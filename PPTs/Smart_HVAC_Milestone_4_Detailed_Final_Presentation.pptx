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46720" y="-1005840"/>
            <a:ext cx="5029200" cy="3749039"/>
          </a:xfrm>
          <a:prstGeom prst="ellipse">
            <a:avLst/>
          </a:prstGeom>
          <a:solidFill>
            <a:srgbClr val="99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88720" y="4572000"/>
            <a:ext cx="5486400" cy="3017520"/>
          </a:xfrm>
          <a:prstGeom prst="ellipse">
            <a:avLst/>
          </a:prstGeom>
          <a:solidFill>
            <a:srgbClr val="41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846320" y="5715000"/>
            <a:ext cx="4572000" cy="2011680"/>
          </a:xfrm>
          <a:prstGeom prst="ellipse">
            <a:avLst/>
          </a:prstGeom>
          <a:solidFill>
            <a:srgbClr val="FF5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20040"/>
            <a:ext cx="1234440" cy="50292"/>
          </a:xfrm>
          <a:prstGeom prst="rect">
            <a:avLst/>
          </a:prstGeom>
          <a:solidFill>
            <a:srgbClr val="41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5BBD7"/>
                </a:solidFill>
              </a:defRPr>
            </a:pPr>
            <a:r>
              <a:t>INFOSYS SPRINGBOARD  •  MILESTONE 4 FINAL  • 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8368"/>
            <a:ext cx="740664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6FF"/>
                </a:solidFill>
              </a:defRPr>
            </a:pPr>
            <a:r>
              <a:t>Smart HVAC Energy Optimization</a:t>
            </a:r>
            <a:br/>
            <a:r>
              <a:t>&amp; AI-Powered Predictive Maintenance System</a:t>
            </a:r>
          </a:p>
          <a:p>
            <a:pPr>
              <a:defRPr sz="1400">
                <a:solidFill>
                  <a:srgbClr val="41DCFF"/>
                </a:solidFill>
              </a:defRPr>
            </a:pPr>
            <a:r>
              <a:t>Final Milestone 4 • Infosys Springboard Internship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5074920" cy="3246120"/>
          </a:xfrm>
          <a:prstGeom prst="roundRect">
            <a:avLst/>
          </a:prstGeom>
          <a:solidFill>
            <a:srgbClr val="151130"/>
          </a:solidFill>
          <a:ln>
            <a:solidFill>
              <a:srgbClr val="99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18872"/>
          <a:lstStyle/>
          <a:p>
            <a:pPr algn="ctr">
              <a:defRPr sz="1350" b="1">
                <a:solidFill>
                  <a:srgbClr val="995CFF"/>
                </a:solidFill>
              </a:defRPr>
            </a:pPr>
            <a:r>
              <a:t>PROJECT MENTOR</a:t>
            </a:r>
          </a:p>
          <a:p>
            <a:pPr>
              <a:spcBef>
                <a:spcPts val="500"/>
              </a:spcBef>
              <a:defRPr sz="1300">
                <a:solidFill>
                  <a:srgbClr val="F5F6FF"/>
                </a:solidFill>
              </a:defRPr>
            </a:pPr>
            <a:r>
              <a:t>Sangeetha Mahalingam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874519"/>
            <a:ext cx="5532120" cy="4023360"/>
          </a:xfrm>
          <a:prstGeom prst="roundRect">
            <a:avLst/>
          </a:prstGeom>
          <a:solidFill>
            <a:srgbClr val="151130"/>
          </a:solidFill>
          <a:ln>
            <a:solidFill>
              <a:srgbClr val="41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18872"/>
          <a:lstStyle/>
          <a:p>
            <a:pPr algn="ctr">
              <a:defRPr sz="1350" b="1">
                <a:solidFill>
                  <a:srgbClr val="41DCFF"/>
                </a:solidFill>
              </a:defRPr>
            </a:pPr>
            <a:r>
              <a:t>TEAM MEMBERS</a:t>
            </a:r>
          </a:p>
          <a:p>
            <a:pPr>
              <a:spcBef>
                <a:spcPts val="500"/>
              </a:spcBef>
              <a:defRPr sz="1200">
                <a:solidFill>
                  <a:srgbClr val="F5F6FF"/>
                </a:solidFill>
              </a:defRPr>
            </a:pPr>
            <a:r>
              <a:t>• Shristi Sharma</a:t>
            </a:r>
          </a:p>
          <a:p>
            <a:pPr>
              <a:spcBef>
                <a:spcPts val="500"/>
              </a:spcBef>
              <a:defRPr sz="1200">
                <a:solidFill>
                  <a:srgbClr val="F5F6FF"/>
                </a:solidFill>
              </a:defRPr>
            </a:pPr>
            <a:r>
              <a:t>• Satvik Pandey</a:t>
            </a:r>
          </a:p>
          <a:p>
            <a:pPr>
              <a:spcBef>
                <a:spcPts val="500"/>
              </a:spcBef>
              <a:defRPr sz="1200">
                <a:solidFill>
                  <a:srgbClr val="F5F6FF"/>
                </a:solidFill>
              </a:defRPr>
            </a:pPr>
            <a:r>
              <a:t>• Shashank M M</a:t>
            </a:r>
          </a:p>
          <a:p>
            <a:pPr>
              <a:spcBef>
                <a:spcPts val="500"/>
              </a:spcBef>
              <a:defRPr sz="1200">
                <a:solidFill>
                  <a:srgbClr val="F5F6FF"/>
                </a:solidFill>
              </a:defRPr>
            </a:pPr>
            <a:r>
              <a:t>• Snehith Reddy Anuka</a:t>
            </a:r>
          </a:p>
          <a:p>
            <a:pPr>
              <a:spcBef>
                <a:spcPts val="500"/>
              </a:spcBef>
              <a:defRPr sz="1200">
                <a:solidFill>
                  <a:srgbClr val="F5F6FF"/>
                </a:solidFill>
              </a:defRPr>
            </a:pPr>
            <a:r>
              <a:t>• Sahil Manoj Shah</a:t>
            </a:r>
          </a:p>
          <a:p>
            <a:pPr>
              <a:spcBef>
                <a:spcPts val="500"/>
              </a:spcBef>
              <a:defRPr sz="1200">
                <a:solidFill>
                  <a:srgbClr val="F5F6FF"/>
                </a:solidFill>
              </a:defRPr>
            </a:pPr>
            <a:r>
              <a:t>• Sai Charan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46720" y="-1005840"/>
            <a:ext cx="5029200" cy="3749039"/>
          </a:xfrm>
          <a:prstGeom prst="ellipse">
            <a:avLst/>
          </a:prstGeom>
          <a:solidFill>
            <a:srgbClr val="99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88720" y="4572000"/>
            <a:ext cx="5486400" cy="3017520"/>
          </a:xfrm>
          <a:prstGeom prst="ellipse">
            <a:avLst/>
          </a:prstGeom>
          <a:solidFill>
            <a:srgbClr val="41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846320" y="5715000"/>
            <a:ext cx="4572000" cy="2011680"/>
          </a:xfrm>
          <a:prstGeom prst="ellipse">
            <a:avLst/>
          </a:prstGeom>
          <a:solidFill>
            <a:srgbClr val="FF5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20040"/>
            <a:ext cx="1234440" cy="50292"/>
          </a:xfrm>
          <a:prstGeom prst="rect">
            <a:avLst/>
          </a:prstGeom>
          <a:solidFill>
            <a:srgbClr val="41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5BBD7"/>
                </a:solidFill>
              </a:defRPr>
            </a:pPr>
            <a:r>
              <a:t>INFOSYS SPRINGBOARD  •  MILESTONE 4 FINAL  • 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30352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6FF"/>
                </a:solidFill>
              </a:defRPr>
            </a:pPr>
            <a:r>
              <a:t>Project Overview &amp; Objectives</a:t>
            </a:r>
          </a:p>
          <a:p>
            <a:pPr>
              <a:defRPr sz="1150">
                <a:solidFill>
                  <a:srgbClr val="B5BBD7"/>
                </a:solidFill>
              </a:defRPr>
            </a:pPr>
            <a:r>
              <a:t>The final system brings predictive maintenance and energy intelligence into one HVAC management workflow.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3429000" cy="4160520"/>
          </a:xfrm>
          <a:prstGeom prst="roundRect">
            <a:avLst/>
          </a:prstGeom>
          <a:solidFill>
            <a:srgbClr val="151130"/>
          </a:solidFill>
          <a:ln>
            <a:solidFill>
              <a:srgbClr val="FF5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18872"/>
          <a:lstStyle/>
          <a:p>
            <a:pPr algn="ctr">
              <a:defRPr sz="1350" b="1">
                <a:solidFill>
                  <a:srgbClr val="FF52B1"/>
                </a:solidFill>
              </a:defRPr>
            </a:pPr>
            <a:r>
              <a:t>CORE PROBLEM</a:t>
            </a:r>
          </a:p>
          <a:p>
            <a:pPr>
              <a:spcBef>
                <a:spcPts val="500"/>
              </a:spcBef>
              <a:defRPr sz="1019">
                <a:solidFill>
                  <a:srgbClr val="F5F6FF"/>
                </a:solidFill>
              </a:defRPr>
            </a:pPr>
            <a:r>
              <a:t>• HVAC faults may become visible only after symptoms develop.</a:t>
            </a:r>
          </a:p>
          <a:p>
            <a:pPr>
              <a:spcBef>
                <a:spcPts val="500"/>
              </a:spcBef>
              <a:defRPr sz="1019">
                <a:solidFill>
                  <a:srgbClr val="F5F6FF"/>
                </a:solidFill>
              </a:defRPr>
            </a:pPr>
            <a:r>
              <a:t>• Energy consumption needs continuous analytical visibility.</a:t>
            </a:r>
          </a:p>
          <a:p>
            <a:pPr>
              <a:spcBef>
                <a:spcPts val="500"/>
              </a:spcBef>
              <a:defRPr sz="1019">
                <a:solidFill>
                  <a:srgbClr val="F5F6FF"/>
                </a:solidFill>
              </a:defRPr>
            </a:pPr>
            <a:r>
              <a:t>• Operators need one view for health, faults, deviations and energy.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600200"/>
            <a:ext cx="3429000" cy="4160520"/>
          </a:xfrm>
          <a:prstGeom prst="roundRect">
            <a:avLst/>
          </a:prstGeom>
          <a:solidFill>
            <a:srgbClr val="151130"/>
          </a:solidFill>
          <a:ln>
            <a:solidFill>
              <a:srgbClr val="41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18872"/>
          <a:lstStyle/>
          <a:p>
            <a:pPr algn="ctr">
              <a:defRPr sz="1350" b="1">
                <a:solidFill>
                  <a:srgbClr val="41DCFF"/>
                </a:solidFill>
              </a:defRPr>
            </a:pPr>
            <a:r>
              <a:t>PROJECT OBJECTIVES</a:t>
            </a:r>
          </a:p>
          <a:p>
            <a:pPr>
              <a:spcBef>
                <a:spcPts val="500"/>
              </a:spcBef>
              <a:defRPr sz="1019">
                <a:solidFill>
                  <a:srgbClr val="F5F6FF"/>
                </a:solidFill>
              </a:defRPr>
            </a:pPr>
            <a:r>
              <a:t>• Detect HVAC faults using machine learning.</a:t>
            </a:r>
          </a:p>
          <a:p>
            <a:pPr>
              <a:spcBef>
                <a:spcPts val="500"/>
              </a:spcBef>
              <a:defRPr sz="1019">
                <a:solidFill>
                  <a:srgbClr val="F5F6FF"/>
                </a:solidFill>
              </a:defRPr>
            </a:pPr>
            <a:r>
              <a:t>• Analyze and predict energy consumption.</a:t>
            </a:r>
          </a:p>
          <a:p>
            <a:pPr>
              <a:spcBef>
                <a:spcPts val="500"/>
              </a:spcBef>
              <a:defRPr sz="1019">
                <a:solidFill>
                  <a:srgbClr val="F5F6FF"/>
                </a:solidFill>
              </a:defRPr>
            </a:pPr>
            <a:r>
              <a:t>• Provide monitoring and analytics through a dashboard.</a:t>
            </a:r>
          </a:p>
          <a:p>
            <a:pPr>
              <a:spcBef>
                <a:spcPts val="500"/>
              </a:spcBef>
              <a:defRPr sz="1019">
                <a:solidFill>
                  <a:srgbClr val="F5F6FF"/>
                </a:solidFill>
              </a:defRPr>
            </a:pPr>
            <a:r>
              <a:t>• Convert predictions into maintenance-oriented risk insights.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1583" y="1600200"/>
            <a:ext cx="3429000" cy="4160520"/>
          </a:xfrm>
          <a:prstGeom prst="roundRect">
            <a:avLst/>
          </a:prstGeom>
          <a:solidFill>
            <a:srgbClr val="151130"/>
          </a:solidFill>
          <a:ln>
            <a:solidFill>
              <a:srgbClr val="48E5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18872"/>
          <a:lstStyle/>
          <a:p>
            <a:pPr algn="ctr">
              <a:defRPr sz="1350" b="1">
                <a:solidFill>
                  <a:srgbClr val="48E5A7"/>
                </a:solidFill>
              </a:defRPr>
            </a:pPr>
            <a:r>
              <a:t>FINAL OUTCOME</a:t>
            </a:r>
          </a:p>
          <a:p>
            <a:pPr>
              <a:spcBef>
                <a:spcPts val="500"/>
              </a:spcBef>
              <a:defRPr sz="1019">
                <a:solidFill>
                  <a:srgbClr val="F5F6FF"/>
                </a:solidFill>
              </a:defRPr>
            </a:pPr>
            <a:r>
              <a:t>Integrated prototype connecting:</a:t>
            </a:r>
          </a:p>
          <a:p>
            <a:pPr>
              <a:spcBef>
                <a:spcPts val="500"/>
              </a:spcBef>
              <a:defRPr sz="1019">
                <a:solidFill>
                  <a:srgbClr val="F5F6FF"/>
                </a:solidFill>
              </a:defRPr>
            </a:pPr>
            <a:r>
              <a:t>• Data preparation</a:t>
            </a:r>
          </a:p>
          <a:p>
            <a:pPr>
              <a:spcBef>
                <a:spcPts val="500"/>
              </a:spcBef>
              <a:defRPr sz="1019">
                <a:solidFill>
                  <a:srgbClr val="F5F6FF"/>
                </a:solidFill>
              </a:defRPr>
            </a:pPr>
            <a:r>
              <a:t>• Random Forest models</a:t>
            </a:r>
          </a:p>
          <a:p>
            <a:pPr>
              <a:spcBef>
                <a:spcPts val="500"/>
              </a:spcBef>
              <a:defRPr sz="1019">
                <a:solidFill>
                  <a:srgbClr val="F5F6FF"/>
                </a:solidFill>
              </a:defRPr>
            </a:pPr>
            <a:r>
              <a:t>• REST backend services</a:t>
            </a:r>
          </a:p>
          <a:p>
            <a:pPr>
              <a:spcBef>
                <a:spcPts val="500"/>
              </a:spcBef>
              <a:defRPr sz="1019">
                <a:solidFill>
                  <a:srgbClr val="F5F6FF"/>
                </a:solidFill>
              </a:defRPr>
            </a:pPr>
            <a:r>
              <a:t>• React dashboard</a:t>
            </a:r>
          </a:p>
          <a:p>
            <a:pPr>
              <a:spcBef>
                <a:spcPts val="500"/>
              </a:spcBef>
              <a:defRPr sz="1019">
                <a:solidFill>
                  <a:srgbClr val="F5F6FF"/>
                </a:solidFill>
              </a:defRPr>
            </a:pPr>
            <a:r>
              <a:t>• Monitoring, analytics and alerts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46720" y="-1005840"/>
            <a:ext cx="5029200" cy="3749039"/>
          </a:xfrm>
          <a:prstGeom prst="ellipse">
            <a:avLst/>
          </a:prstGeom>
          <a:solidFill>
            <a:srgbClr val="99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88720" y="4572000"/>
            <a:ext cx="5486400" cy="3017520"/>
          </a:xfrm>
          <a:prstGeom prst="ellipse">
            <a:avLst/>
          </a:prstGeom>
          <a:solidFill>
            <a:srgbClr val="41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846320" y="5715000"/>
            <a:ext cx="4572000" cy="2011680"/>
          </a:xfrm>
          <a:prstGeom prst="ellipse">
            <a:avLst/>
          </a:prstGeom>
          <a:solidFill>
            <a:srgbClr val="FF5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20040"/>
            <a:ext cx="1234440" cy="50292"/>
          </a:xfrm>
          <a:prstGeom prst="rect">
            <a:avLst/>
          </a:prstGeom>
          <a:solidFill>
            <a:srgbClr val="41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5BBD7"/>
                </a:solidFill>
              </a:defRPr>
            </a:pPr>
            <a:r>
              <a:t>INFOSYS SPRINGBOARD  •  MILESTONE 4 FINAL  • 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30352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6FF"/>
                </a:solidFill>
              </a:defRPr>
            </a:pPr>
            <a:r>
              <a:t>Project Progress Across Four Milestones</a:t>
            </a:r>
          </a:p>
          <a:p>
            <a:pPr>
              <a:defRPr sz="1150">
                <a:solidFill>
                  <a:srgbClr val="B5BBD7"/>
                </a:solidFill>
              </a:defRPr>
            </a:pPr>
            <a:r>
              <a:t>From abstract and architecture to an integrated demonstrable prototype.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2606040" cy="4069080"/>
          </a:xfrm>
          <a:prstGeom prst="roundRect">
            <a:avLst/>
          </a:prstGeom>
          <a:solidFill>
            <a:srgbClr val="151130"/>
          </a:solidFill>
          <a:ln>
            <a:solidFill>
              <a:srgbClr val="41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18872"/>
          <a:lstStyle/>
          <a:p>
            <a:pPr algn="ctr">
              <a:defRPr sz="1350" b="1">
                <a:solidFill>
                  <a:srgbClr val="41DCFF"/>
                </a:solidFill>
              </a:defRPr>
            </a:pPr>
            <a:r>
              <a:t>MILESTONE 1</a:t>
            </a:r>
          </a:p>
          <a:p>
            <a:pPr>
              <a:spcBef>
                <a:spcPts val="500"/>
              </a:spcBef>
              <a:defRPr sz="1000">
                <a:solidFill>
                  <a:srgbClr val="F5F6FF"/>
                </a:solidFill>
              </a:defRPr>
            </a:pPr>
            <a:r>
              <a:t>Ideation &amp; Scope</a:t>
            </a:r>
          </a:p>
          <a:p>
            <a:pPr>
              <a:spcBef>
                <a:spcPts val="500"/>
              </a:spcBef>
              <a:defRPr sz="1000">
                <a:solidFill>
                  <a:srgbClr val="F5F6FF"/>
                </a:solidFill>
              </a:defRPr>
            </a:pPr>
          </a:p>
          <a:p>
            <a:pPr>
              <a:spcBef>
                <a:spcPts val="500"/>
              </a:spcBef>
              <a:defRPr sz="1000">
                <a:solidFill>
                  <a:srgbClr val="F5F6FF"/>
                </a:solidFill>
              </a:defRPr>
            </a:pPr>
            <a:r>
              <a:t>Problem statement, objectives, abstract, proposed solution and initial architecture.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00200"/>
            <a:ext cx="2606040" cy="4069080"/>
          </a:xfrm>
          <a:prstGeom prst="roundRect">
            <a:avLst/>
          </a:prstGeom>
          <a:solidFill>
            <a:srgbClr val="151130"/>
          </a:solidFill>
          <a:ln>
            <a:solidFill>
              <a:srgbClr val="99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18872"/>
          <a:lstStyle/>
          <a:p>
            <a:pPr algn="ctr">
              <a:defRPr sz="1350" b="1">
                <a:solidFill>
                  <a:srgbClr val="995CFF"/>
                </a:solidFill>
              </a:defRPr>
            </a:pPr>
            <a:r>
              <a:t>MILESTONE 2</a:t>
            </a:r>
          </a:p>
          <a:p>
            <a:pPr>
              <a:spcBef>
                <a:spcPts val="500"/>
              </a:spcBef>
              <a:defRPr sz="1000">
                <a:solidFill>
                  <a:srgbClr val="F5F6FF"/>
                </a:solidFill>
              </a:defRPr>
            </a:pPr>
            <a:r>
              <a:t>Development Foundation</a:t>
            </a:r>
          </a:p>
          <a:p>
            <a:pPr>
              <a:spcBef>
                <a:spcPts val="500"/>
              </a:spcBef>
              <a:defRPr sz="1000">
                <a:solidFill>
                  <a:srgbClr val="F5F6FF"/>
                </a:solidFill>
              </a:defRPr>
            </a:pPr>
          </a:p>
          <a:p>
            <a:pPr>
              <a:spcBef>
                <a:spcPts val="500"/>
              </a:spcBef>
              <a:defRPr sz="1000">
                <a:solidFill>
                  <a:srgbClr val="F5F6FF"/>
                </a:solidFill>
              </a:defRPr>
            </a:pPr>
            <a:r>
              <a:t>Dataset work, ML pipeline, backend foundation and frontend structure.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600200"/>
            <a:ext cx="2606040" cy="4069080"/>
          </a:xfrm>
          <a:prstGeom prst="roundRect">
            <a:avLst/>
          </a:prstGeom>
          <a:solidFill>
            <a:srgbClr val="151130"/>
          </a:solidFill>
          <a:ln>
            <a:solidFill>
              <a:srgbClr val="FF5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18872"/>
          <a:lstStyle/>
          <a:p>
            <a:pPr algn="ctr">
              <a:defRPr sz="1350" b="1">
                <a:solidFill>
                  <a:srgbClr val="FF52B1"/>
                </a:solidFill>
              </a:defRPr>
            </a:pPr>
            <a:r>
              <a:t>MILESTONE 3</a:t>
            </a:r>
          </a:p>
          <a:p>
            <a:pPr>
              <a:spcBef>
                <a:spcPts val="500"/>
              </a:spcBef>
              <a:defRPr sz="1000">
                <a:solidFill>
                  <a:srgbClr val="F5F6FF"/>
                </a:solidFill>
              </a:defRPr>
            </a:pPr>
            <a:r>
              <a:t>System Integration</a:t>
            </a:r>
          </a:p>
          <a:p>
            <a:pPr>
              <a:spcBef>
                <a:spcPts val="500"/>
              </a:spcBef>
              <a:defRPr sz="1000">
                <a:solidFill>
                  <a:srgbClr val="F5F6FF"/>
                </a:solidFill>
              </a:defRPr>
            </a:pPr>
          </a:p>
          <a:p>
            <a:pPr>
              <a:spcBef>
                <a:spcPts val="500"/>
              </a:spcBef>
              <a:defRPr sz="1000">
                <a:solidFill>
                  <a:srgbClr val="F5F6FF"/>
                </a:solidFill>
              </a:defRPr>
            </a:pPr>
            <a:r>
              <a:t>Prediction workflow, dashboard modules, analytics and monitoring integration.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1600200"/>
            <a:ext cx="2606040" cy="4069080"/>
          </a:xfrm>
          <a:prstGeom prst="roundRect">
            <a:avLst/>
          </a:prstGeom>
          <a:solidFill>
            <a:srgbClr val="151130"/>
          </a:solidFill>
          <a:ln>
            <a:solidFill>
              <a:srgbClr val="48E5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18872"/>
          <a:lstStyle/>
          <a:p>
            <a:pPr algn="ctr">
              <a:defRPr sz="1350" b="1">
                <a:solidFill>
                  <a:srgbClr val="48E5A7"/>
                </a:solidFill>
              </a:defRPr>
            </a:pPr>
            <a:r>
              <a:t>MILESTONE 4</a:t>
            </a:r>
          </a:p>
          <a:p>
            <a:pPr>
              <a:spcBef>
                <a:spcPts val="500"/>
              </a:spcBef>
              <a:defRPr sz="1000">
                <a:solidFill>
                  <a:srgbClr val="F5F6FF"/>
                </a:solidFill>
              </a:defRPr>
            </a:pPr>
            <a:r>
              <a:t>Final Culmination</a:t>
            </a:r>
          </a:p>
          <a:p>
            <a:pPr>
              <a:spcBef>
                <a:spcPts val="500"/>
              </a:spcBef>
              <a:defRPr sz="1000">
                <a:solidFill>
                  <a:srgbClr val="F5F6FF"/>
                </a:solidFill>
              </a:defRPr>
            </a:pPr>
          </a:p>
          <a:p>
            <a:pPr>
              <a:spcBef>
                <a:spcPts val="500"/>
              </a:spcBef>
              <a:defRPr sz="1000">
                <a:solidFill>
                  <a:srgbClr val="F5F6FF"/>
                </a:solidFill>
              </a:defRPr>
            </a:pPr>
            <a:r>
              <a:t>End-to-end integration, validation, final capabilities, results and future scope.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46720" y="-1005840"/>
            <a:ext cx="5029200" cy="3749039"/>
          </a:xfrm>
          <a:prstGeom prst="ellipse">
            <a:avLst/>
          </a:prstGeom>
          <a:solidFill>
            <a:srgbClr val="99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88720" y="4572000"/>
            <a:ext cx="5486400" cy="3017520"/>
          </a:xfrm>
          <a:prstGeom prst="ellipse">
            <a:avLst/>
          </a:prstGeom>
          <a:solidFill>
            <a:srgbClr val="41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846320" y="5715000"/>
            <a:ext cx="4572000" cy="2011680"/>
          </a:xfrm>
          <a:prstGeom prst="ellipse">
            <a:avLst/>
          </a:prstGeom>
          <a:solidFill>
            <a:srgbClr val="FF5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20040"/>
            <a:ext cx="1234440" cy="50292"/>
          </a:xfrm>
          <a:prstGeom prst="rect">
            <a:avLst/>
          </a:prstGeom>
          <a:solidFill>
            <a:srgbClr val="41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5BBD7"/>
                </a:solidFill>
              </a:defRPr>
            </a:pPr>
            <a:r>
              <a:t>INFOSYS SPRINGBOARD  •  MILESTONE 4 FINAL  • 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30352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6FF"/>
                </a:solidFill>
              </a:defRPr>
            </a:pPr>
            <a:r>
              <a:t>Final System Architecture</a:t>
            </a:r>
          </a:p>
          <a:p>
            <a:pPr>
              <a:defRPr sz="1150">
                <a:solidFill>
                  <a:srgbClr val="B5BBD7"/>
                </a:solidFill>
              </a:defRPr>
            </a:pPr>
            <a:r>
              <a:t>Data → ML → API →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2487168" cy="3429000"/>
          </a:xfrm>
          <a:prstGeom prst="roundRect">
            <a:avLst/>
          </a:prstGeom>
          <a:solidFill>
            <a:srgbClr val="151130"/>
          </a:solidFill>
          <a:ln>
            <a:solidFill>
              <a:srgbClr val="41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18872"/>
          <a:lstStyle/>
          <a:p>
            <a:pPr algn="ctr">
              <a:defRPr sz="1350" b="1">
                <a:solidFill>
                  <a:srgbClr val="41DCFF"/>
                </a:solidFill>
              </a:defRPr>
            </a:pPr>
            <a:r>
              <a:t>DATA LAYER</a:t>
            </a:r>
          </a:p>
          <a:p>
            <a:pPr>
              <a:spcBef>
                <a:spcPts val="500"/>
              </a:spcBef>
              <a:defRPr sz="1019">
                <a:solidFill>
                  <a:srgbClr val="F5F6FF"/>
                </a:solidFill>
              </a:defRPr>
            </a:pPr>
            <a:r>
              <a:t>Facility/HVAC datasets</a:t>
            </a:r>
          </a:p>
          <a:p>
            <a:pPr>
              <a:spcBef>
                <a:spcPts val="500"/>
              </a:spcBef>
              <a:defRPr sz="1019">
                <a:solidFill>
                  <a:srgbClr val="F5F6FF"/>
                </a:solidFill>
              </a:defRPr>
            </a:pPr>
            <a:r>
              <a:t>Cleaning • timestamps • prepared features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1828800"/>
            <a:ext cx="2487168" cy="3429000"/>
          </a:xfrm>
          <a:prstGeom prst="roundRect">
            <a:avLst/>
          </a:prstGeom>
          <a:solidFill>
            <a:srgbClr val="151130"/>
          </a:solidFill>
          <a:ln>
            <a:solidFill>
              <a:srgbClr val="99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18872"/>
          <a:lstStyle/>
          <a:p>
            <a:pPr algn="ctr">
              <a:defRPr sz="1350" b="1">
                <a:solidFill>
                  <a:srgbClr val="995CFF"/>
                </a:solidFill>
              </a:defRPr>
            </a:pPr>
            <a:r>
              <a:t>ML LAYER</a:t>
            </a:r>
          </a:p>
          <a:p>
            <a:pPr>
              <a:spcBef>
                <a:spcPts val="500"/>
              </a:spcBef>
              <a:defRPr sz="1019">
                <a:solidFill>
                  <a:srgbClr val="F5F6FF"/>
                </a:solidFill>
              </a:defRPr>
            </a:pPr>
            <a:r>
              <a:t>Scikit-learn</a:t>
            </a:r>
          </a:p>
          <a:p>
            <a:pPr>
              <a:spcBef>
                <a:spcPts val="500"/>
              </a:spcBef>
              <a:defRPr sz="1019">
                <a:solidFill>
                  <a:srgbClr val="F5F6FF"/>
                </a:solidFill>
              </a:defRPr>
            </a:pPr>
            <a:r>
              <a:t>Random Forest classification &amp; regression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45936" y="1828800"/>
            <a:ext cx="2487168" cy="3429000"/>
          </a:xfrm>
          <a:prstGeom prst="roundRect">
            <a:avLst/>
          </a:prstGeom>
          <a:solidFill>
            <a:srgbClr val="151130"/>
          </a:solidFill>
          <a:ln>
            <a:solidFill>
              <a:srgbClr val="FF5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18872"/>
          <a:lstStyle/>
          <a:p>
            <a:pPr algn="ctr">
              <a:defRPr sz="1350" b="1">
                <a:solidFill>
                  <a:srgbClr val="FF52B1"/>
                </a:solidFill>
              </a:defRPr>
            </a:pPr>
            <a:r>
              <a:t>API LAYER</a:t>
            </a:r>
          </a:p>
          <a:p>
            <a:pPr>
              <a:spcBef>
                <a:spcPts val="500"/>
              </a:spcBef>
              <a:defRPr sz="1019">
                <a:solidFill>
                  <a:srgbClr val="F5F6FF"/>
                </a:solidFill>
              </a:defRPr>
            </a:pPr>
            <a:r>
              <a:t>Python REST services</a:t>
            </a:r>
          </a:p>
          <a:p>
            <a:pPr>
              <a:spcBef>
                <a:spcPts val="500"/>
              </a:spcBef>
              <a:defRPr sz="1019">
                <a:solidFill>
                  <a:srgbClr val="F5F6FF"/>
                </a:solidFill>
              </a:defRPr>
            </a:pPr>
            <a:r>
              <a:t>Request → prediction → response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98863" y="1828800"/>
            <a:ext cx="2487168" cy="3429000"/>
          </a:xfrm>
          <a:prstGeom prst="roundRect">
            <a:avLst/>
          </a:prstGeom>
          <a:solidFill>
            <a:srgbClr val="151130"/>
          </a:solidFill>
          <a:ln>
            <a:solidFill>
              <a:srgbClr val="48E5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18872"/>
          <a:lstStyle/>
          <a:p>
            <a:pPr algn="ctr">
              <a:defRPr sz="1350" b="1">
                <a:solidFill>
                  <a:srgbClr val="48E5A7"/>
                </a:solidFill>
              </a:defRPr>
            </a:pPr>
            <a:r>
              <a:t>UI LAYER</a:t>
            </a:r>
          </a:p>
          <a:p>
            <a:pPr>
              <a:spcBef>
                <a:spcPts val="500"/>
              </a:spcBef>
              <a:defRPr sz="1019">
                <a:solidFill>
                  <a:srgbClr val="F5F6FF"/>
                </a:solidFill>
              </a:defRPr>
            </a:pPr>
            <a:r>
              <a:t>React dashboard</a:t>
            </a:r>
          </a:p>
          <a:p>
            <a:pPr>
              <a:spcBef>
                <a:spcPts val="500"/>
              </a:spcBef>
              <a:defRPr sz="1019">
                <a:solidFill>
                  <a:srgbClr val="F5F6FF"/>
                </a:solidFill>
              </a:defRPr>
            </a:pPr>
            <a:r>
              <a:t>Monitoring • analytics • alerts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48640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5F6FF"/>
                </a:solidFill>
              </a:defRPr>
            </a:pPr>
            <a:r>
              <a:t>Data Input  →  Preprocessing  →  ML Prediction  →  REST API  →  Dashboard  →  Maintenance Insight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46720" y="-1005840"/>
            <a:ext cx="5029200" cy="3749039"/>
          </a:xfrm>
          <a:prstGeom prst="ellipse">
            <a:avLst/>
          </a:prstGeom>
          <a:solidFill>
            <a:srgbClr val="99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88720" y="4572000"/>
            <a:ext cx="5486400" cy="3017520"/>
          </a:xfrm>
          <a:prstGeom prst="ellipse">
            <a:avLst/>
          </a:prstGeom>
          <a:solidFill>
            <a:srgbClr val="41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846320" y="5715000"/>
            <a:ext cx="4572000" cy="2011680"/>
          </a:xfrm>
          <a:prstGeom prst="ellipse">
            <a:avLst/>
          </a:prstGeom>
          <a:solidFill>
            <a:srgbClr val="FF5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20040"/>
            <a:ext cx="1234440" cy="50292"/>
          </a:xfrm>
          <a:prstGeom prst="rect">
            <a:avLst/>
          </a:prstGeom>
          <a:solidFill>
            <a:srgbClr val="41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5BBD7"/>
                </a:solidFill>
              </a:defRPr>
            </a:pPr>
            <a:r>
              <a:t>INFOSYS SPRINGBOARD  •  MILESTONE 4 FINAL  • 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30352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6FF"/>
                </a:solidFill>
              </a:defRPr>
            </a:pPr>
            <a:r>
              <a:t>Data Preparation &amp; Machine Learning</a:t>
            </a:r>
          </a:p>
          <a:p>
            <a:pPr>
              <a:defRPr sz="1150">
                <a:solidFill>
                  <a:srgbClr val="B5BBD7"/>
                </a:solidFill>
              </a:defRPr>
            </a:pPr>
            <a:r>
              <a:t>The intelligence layer converts facility data into predictive outputs.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54480"/>
            <a:ext cx="2743200" cy="4297680"/>
          </a:xfrm>
          <a:prstGeom prst="roundRect">
            <a:avLst/>
          </a:prstGeom>
          <a:solidFill>
            <a:srgbClr val="151130"/>
          </a:solidFill>
          <a:ln>
            <a:solidFill>
              <a:srgbClr val="41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18872"/>
          <a:lstStyle/>
          <a:p>
            <a:pPr algn="ctr">
              <a:defRPr sz="1350" b="1">
                <a:solidFill>
                  <a:srgbClr val="41DCFF"/>
                </a:solidFill>
              </a:defRPr>
            </a:pPr>
            <a:r>
              <a:t>DATA PROCESSING</a:t>
            </a:r>
          </a:p>
          <a:p>
            <a:pPr>
              <a:spcBef>
                <a:spcPts val="500"/>
              </a:spcBef>
              <a:defRPr sz="980">
                <a:solidFill>
                  <a:srgbClr val="F5F6FF"/>
                </a:solidFill>
              </a:defRPr>
            </a:pPr>
            <a:r>
              <a:t>• Dataset loading</a:t>
            </a:r>
          </a:p>
          <a:p>
            <a:pPr>
              <a:spcBef>
                <a:spcPts val="500"/>
              </a:spcBef>
              <a:defRPr sz="980">
                <a:solidFill>
                  <a:srgbClr val="F5F6FF"/>
                </a:solidFill>
              </a:defRPr>
            </a:pPr>
            <a:r>
              <a:t>• Cleaning and preparation</a:t>
            </a:r>
          </a:p>
          <a:p>
            <a:pPr>
              <a:spcBef>
                <a:spcPts val="500"/>
              </a:spcBef>
              <a:defRPr sz="980">
                <a:solidFill>
                  <a:srgbClr val="F5F6FF"/>
                </a:solidFill>
              </a:defRPr>
            </a:pPr>
            <a:r>
              <a:t>• Timestamp normalization</a:t>
            </a:r>
          </a:p>
          <a:p>
            <a:pPr>
              <a:spcBef>
                <a:spcPts val="500"/>
              </a:spcBef>
              <a:defRPr sz="980">
                <a:solidFill>
                  <a:srgbClr val="F5F6FF"/>
                </a:solidFill>
              </a:defRPr>
            </a:pPr>
            <a:r>
              <a:t>• Feature preparation</a:t>
            </a:r>
          </a:p>
          <a:p>
            <a:pPr>
              <a:spcBef>
                <a:spcPts val="500"/>
              </a:spcBef>
              <a:defRPr sz="980">
                <a:solidFill>
                  <a:srgbClr val="F5F6FF"/>
                </a:solidFill>
              </a:defRPr>
            </a:pPr>
            <a:r>
              <a:t>• Rolling statistics / temporal features</a:t>
            </a:r>
          </a:p>
          <a:p>
            <a:pPr>
              <a:spcBef>
                <a:spcPts val="500"/>
              </a:spcBef>
              <a:defRPr sz="980">
                <a:solidFill>
                  <a:srgbClr val="F5F6FF"/>
                </a:solidFill>
              </a:defRPr>
            </a:pPr>
            <a:r>
              <a:t>• Temperature, pressure and humidity signals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47872" y="1554480"/>
            <a:ext cx="2743200" cy="4297680"/>
          </a:xfrm>
          <a:prstGeom prst="roundRect">
            <a:avLst/>
          </a:prstGeom>
          <a:solidFill>
            <a:srgbClr val="151130"/>
          </a:solidFill>
          <a:ln>
            <a:solidFill>
              <a:srgbClr val="99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18872"/>
          <a:lstStyle/>
          <a:p>
            <a:pPr algn="ctr">
              <a:defRPr sz="1350" b="1">
                <a:solidFill>
                  <a:srgbClr val="995CFF"/>
                </a:solidFill>
              </a:defRPr>
            </a:pPr>
            <a:r>
              <a:t>FAULT DETECTION</a:t>
            </a:r>
          </a:p>
          <a:p>
            <a:pPr>
              <a:spcBef>
                <a:spcPts val="500"/>
              </a:spcBef>
              <a:defRPr sz="980">
                <a:solidFill>
                  <a:srgbClr val="F5F6FF"/>
                </a:solidFill>
              </a:defRPr>
            </a:pPr>
            <a:r>
              <a:t>• Random Forest classifier</a:t>
            </a:r>
          </a:p>
          <a:p>
            <a:pPr>
              <a:spcBef>
                <a:spcPts val="500"/>
              </a:spcBef>
              <a:defRPr sz="980">
                <a:solidFill>
                  <a:srgbClr val="F5F6FF"/>
                </a:solidFill>
              </a:defRPr>
            </a:pPr>
            <a:r>
              <a:t>• HVAC fault classification</a:t>
            </a:r>
          </a:p>
          <a:p>
            <a:pPr>
              <a:spcBef>
                <a:spcPts val="500"/>
              </a:spcBef>
              <a:defRPr sz="980">
                <a:solidFill>
                  <a:srgbClr val="F5F6FF"/>
                </a:solidFill>
              </a:defRPr>
            </a:pPr>
            <a:r>
              <a:t>• Documented datasets cover 6 fault types</a:t>
            </a:r>
          </a:p>
          <a:p>
            <a:pPr>
              <a:spcBef>
                <a:spcPts val="500"/>
              </a:spcBef>
              <a:defRPr sz="980">
                <a:solidFill>
                  <a:srgbClr val="F5F6FF"/>
                </a:solidFill>
              </a:defRPr>
            </a:pPr>
            <a:r>
              <a:t>• Healthy baseline included</a:t>
            </a:r>
          </a:p>
          <a:p>
            <a:pPr>
              <a:spcBef>
                <a:spcPts val="500"/>
              </a:spcBef>
              <a:defRPr sz="980">
                <a:solidFill>
                  <a:srgbClr val="F5F6FF"/>
                </a:solidFill>
              </a:defRPr>
            </a:pPr>
            <a:r>
              <a:t>• Prediction surfaced to application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01384" y="1554480"/>
            <a:ext cx="2331720" cy="4297680"/>
          </a:xfrm>
          <a:prstGeom prst="roundRect">
            <a:avLst/>
          </a:prstGeom>
          <a:solidFill>
            <a:srgbClr val="151130"/>
          </a:solidFill>
          <a:ln>
            <a:solidFill>
              <a:srgbClr val="FF5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18872"/>
          <a:lstStyle/>
          <a:p>
            <a:pPr algn="ctr">
              <a:defRPr sz="1350" b="1">
                <a:solidFill>
                  <a:srgbClr val="FF52B1"/>
                </a:solidFill>
              </a:defRPr>
            </a:pPr>
            <a:r>
              <a:t>ENERGY INTELLIGENCE</a:t>
            </a:r>
          </a:p>
          <a:p>
            <a:pPr>
              <a:spcBef>
                <a:spcPts val="500"/>
              </a:spcBef>
              <a:defRPr sz="980">
                <a:solidFill>
                  <a:srgbClr val="F5F6FF"/>
                </a:solidFill>
              </a:defRPr>
            </a:pPr>
            <a:r>
              <a:t>• Energy-consumption analysis</a:t>
            </a:r>
          </a:p>
          <a:p>
            <a:pPr>
              <a:spcBef>
                <a:spcPts val="500"/>
              </a:spcBef>
              <a:defRPr sz="980">
                <a:solidFill>
                  <a:srgbClr val="F5F6FF"/>
                </a:solidFill>
              </a:defRPr>
            </a:pPr>
            <a:r>
              <a:t>• Random Forest regression</a:t>
            </a:r>
          </a:p>
          <a:p>
            <a:pPr>
              <a:spcBef>
                <a:spcPts val="500"/>
              </a:spcBef>
              <a:defRPr sz="980">
                <a:solidFill>
                  <a:srgbClr val="F5F6FF"/>
                </a:solidFill>
              </a:defRPr>
            </a:pPr>
            <a:r>
              <a:t>• Building / zone-oriented insights</a:t>
            </a:r>
          </a:p>
          <a:p>
            <a:pPr>
              <a:spcBef>
                <a:spcPts val="500"/>
              </a:spcBef>
              <a:defRPr sz="980">
                <a:solidFill>
                  <a:srgbClr val="F5F6FF"/>
                </a:solidFill>
              </a:defRPr>
            </a:pPr>
            <a:r>
              <a:t>• Historical and analytical views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43416" y="1554480"/>
            <a:ext cx="2514600" cy="4297680"/>
          </a:xfrm>
          <a:prstGeom prst="roundRect">
            <a:avLst/>
          </a:prstGeom>
          <a:solidFill>
            <a:srgbClr val="151130"/>
          </a:solidFill>
          <a:ln>
            <a:solidFill>
              <a:srgbClr val="48E5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18872"/>
          <a:lstStyle/>
          <a:p>
            <a:pPr algn="ctr">
              <a:defRPr sz="1350" b="1">
                <a:solidFill>
                  <a:srgbClr val="48E5A7"/>
                </a:solidFill>
              </a:defRPr>
            </a:pPr>
            <a:r>
              <a:t>RISK &amp; ACTION</a:t>
            </a:r>
          </a:p>
          <a:p>
            <a:pPr>
              <a:spcBef>
                <a:spcPts val="500"/>
              </a:spcBef>
              <a:defRPr sz="980">
                <a:solidFill>
                  <a:srgbClr val="F5F6FF"/>
                </a:solidFill>
              </a:defRPr>
            </a:pPr>
            <a:r>
              <a:t>• Prediction results become user-facing insights</a:t>
            </a:r>
          </a:p>
          <a:p>
            <a:pPr>
              <a:spcBef>
                <a:spcPts val="500"/>
              </a:spcBef>
              <a:defRPr sz="980">
                <a:solidFill>
                  <a:srgbClr val="F5F6FF"/>
                </a:solidFill>
              </a:defRPr>
            </a:pPr>
            <a:r>
              <a:t>• High / Medium / Low risk levels</a:t>
            </a:r>
          </a:p>
          <a:p>
            <a:pPr>
              <a:spcBef>
                <a:spcPts val="500"/>
              </a:spcBef>
              <a:defRPr sz="980">
                <a:solidFill>
                  <a:srgbClr val="F5F6FF"/>
                </a:solidFill>
              </a:defRPr>
            </a:pPr>
            <a:r>
              <a:t>• Fault alerts support maintenance prioritization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46720" y="-1005840"/>
            <a:ext cx="5029200" cy="3749039"/>
          </a:xfrm>
          <a:prstGeom prst="ellipse">
            <a:avLst/>
          </a:prstGeom>
          <a:solidFill>
            <a:srgbClr val="99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88720" y="4572000"/>
            <a:ext cx="5486400" cy="3017520"/>
          </a:xfrm>
          <a:prstGeom prst="ellipse">
            <a:avLst/>
          </a:prstGeom>
          <a:solidFill>
            <a:srgbClr val="41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846320" y="5715000"/>
            <a:ext cx="4572000" cy="2011680"/>
          </a:xfrm>
          <a:prstGeom prst="ellipse">
            <a:avLst/>
          </a:prstGeom>
          <a:solidFill>
            <a:srgbClr val="FF5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20040"/>
            <a:ext cx="1234440" cy="50292"/>
          </a:xfrm>
          <a:prstGeom prst="rect">
            <a:avLst/>
          </a:prstGeom>
          <a:solidFill>
            <a:srgbClr val="41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5BBD7"/>
                </a:solidFill>
              </a:defRPr>
            </a:pPr>
            <a:r>
              <a:t>INFOSYS SPRINGBOARD  •  MILESTONE 4 FINAL  • 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30352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6FF"/>
                </a:solidFill>
              </a:defRPr>
            </a:pPr>
            <a:r>
              <a:t>Backend API &amp; Integration</a:t>
            </a:r>
          </a:p>
          <a:p>
            <a:pPr>
              <a:defRPr sz="1150">
                <a:solidFill>
                  <a:srgbClr val="B5BBD7"/>
                </a:solidFill>
              </a:defRPr>
            </a:pPr>
            <a:r>
              <a:t>Member 2 focus — the backend bridges the application and predictive services.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54480"/>
            <a:ext cx="2606040" cy="4251960"/>
          </a:xfrm>
          <a:prstGeom prst="roundRect">
            <a:avLst/>
          </a:prstGeom>
          <a:solidFill>
            <a:srgbClr val="151130"/>
          </a:solidFill>
          <a:ln>
            <a:solidFill>
              <a:srgbClr val="41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18872"/>
          <a:lstStyle/>
          <a:p>
            <a:pPr algn="ctr">
              <a:defRPr sz="1350" b="1">
                <a:solidFill>
                  <a:srgbClr val="41DCFF"/>
                </a:solidFill>
              </a:defRPr>
            </a:pPr>
            <a:r>
              <a:t>API RESPONSIBILITY</a:t>
            </a:r>
          </a:p>
          <a:p>
            <a:pPr>
              <a:spcBef>
                <a:spcPts val="500"/>
              </a:spcBef>
              <a:defRPr sz="1019">
                <a:solidFill>
                  <a:srgbClr val="F5F6FF"/>
                </a:solidFill>
              </a:defRPr>
            </a:pPr>
            <a:r>
              <a:t>Expose application functionality through REST endpoints and provide a consistent communication layer for the frontend.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1568" y="1554480"/>
            <a:ext cx="2606040" cy="4251960"/>
          </a:xfrm>
          <a:prstGeom prst="roundRect">
            <a:avLst/>
          </a:prstGeom>
          <a:solidFill>
            <a:srgbClr val="151130"/>
          </a:solidFill>
          <a:ln>
            <a:solidFill>
              <a:srgbClr val="99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18872"/>
          <a:lstStyle/>
          <a:p>
            <a:pPr algn="ctr">
              <a:defRPr sz="1350" b="1">
                <a:solidFill>
                  <a:srgbClr val="995CFF"/>
                </a:solidFill>
              </a:defRPr>
            </a:pPr>
            <a:r>
              <a:t>REQUEST FLOW</a:t>
            </a:r>
          </a:p>
          <a:p>
            <a:pPr>
              <a:spcBef>
                <a:spcPts val="500"/>
              </a:spcBef>
              <a:defRPr sz="1019">
                <a:solidFill>
                  <a:srgbClr val="F5F6FF"/>
                </a:solidFill>
              </a:defRPr>
            </a:pPr>
            <a:r>
              <a:t>1. Frontend sends request</a:t>
            </a:r>
          </a:p>
          <a:p>
            <a:pPr>
              <a:spcBef>
                <a:spcPts val="500"/>
              </a:spcBef>
              <a:defRPr sz="1019">
                <a:solidFill>
                  <a:srgbClr val="F5F6FF"/>
                </a:solidFill>
              </a:defRPr>
            </a:pPr>
            <a:r>
              <a:t>2. Backend validates input</a:t>
            </a:r>
          </a:p>
          <a:p>
            <a:pPr>
              <a:spcBef>
                <a:spcPts val="500"/>
              </a:spcBef>
              <a:defRPr sz="1019">
                <a:solidFill>
                  <a:srgbClr val="F5F6FF"/>
                </a:solidFill>
              </a:defRPr>
            </a:pPr>
            <a:r>
              <a:t>3. Prediction service is invoked</a:t>
            </a:r>
          </a:p>
          <a:p>
            <a:pPr>
              <a:spcBef>
                <a:spcPts val="500"/>
              </a:spcBef>
              <a:defRPr sz="1019">
                <a:solidFill>
                  <a:srgbClr val="F5F6FF"/>
                </a:solidFill>
              </a:defRPr>
            </a:pPr>
            <a:r>
              <a:t>4. Model processes features</a:t>
            </a:r>
          </a:p>
          <a:p>
            <a:pPr>
              <a:spcBef>
                <a:spcPts val="500"/>
              </a:spcBef>
              <a:defRPr sz="1019">
                <a:solidFill>
                  <a:srgbClr val="F5F6FF"/>
                </a:solidFill>
              </a:defRPr>
            </a:pPr>
            <a:r>
              <a:t>5. Structured response is returned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554480"/>
            <a:ext cx="2606040" cy="4251960"/>
          </a:xfrm>
          <a:prstGeom prst="roundRect">
            <a:avLst/>
          </a:prstGeom>
          <a:solidFill>
            <a:srgbClr val="151130"/>
          </a:solidFill>
          <a:ln>
            <a:solidFill>
              <a:srgbClr val="FF5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18872"/>
          <a:lstStyle/>
          <a:p>
            <a:pPr algn="ctr">
              <a:defRPr sz="1350" b="1">
                <a:solidFill>
                  <a:srgbClr val="FF52B1"/>
                </a:solidFill>
              </a:defRPr>
            </a:pPr>
            <a:r>
              <a:t>MODEL CONNECTION</a:t>
            </a:r>
          </a:p>
          <a:p>
            <a:pPr>
              <a:spcBef>
                <a:spcPts val="500"/>
              </a:spcBef>
              <a:defRPr sz="1019">
                <a:solidFill>
                  <a:srgbClr val="F5F6FF"/>
                </a:solidFill>
              </a:defRPr>
            </a:pPr>
            <a:r>
              <a:t>Python ML components are connected to application services so trained models can be used in the operational workflow.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15984" y="1554480"/>
            <a:ext cx="2606040" cy="4251960"/>
          </a:xfrm>
          <a:prstGeom prst="roundRect">
            <a:avLst/>
          </a:prstGeom>
          <a:solidFill>
            <a:srgbClr val="151130"/>
          </a:solidFill>
          <a:ln>
            <a:solidFill>
              <a:srgbClr val="48E5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18872"/>
          <a:lstStyle/>
          <a:p>
            <a:pPr algn="ctr">
              <a:defRPr sz="1350" b="1">
                <a:solidFill>
                  <a:srgbClr val="48E5A7"/>
                </a:solidFill>
              </a:defRPr>
            </a:pPr>
            <a:r>
              <a:t>WHY IT MATTERS</a:t>
            </a:r>
          </a:p>
          <a:p>
            <a:pPr>
              <a:spcBef>
                <a:spcPts val="500"/>
              </a:spcBef>
              <a:defRPr sz="1019">
                <a:solidFill>
                  <a:srgbClr val="F5F6FF"/>
                </a:solidFill>
              </a:defRPr>
            </a:pPr>
            <a:r>
              <a:t>Separating API logic from UI and ML logic makes the application modular and provides a foundation for future IoT/cloud integration.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80644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5F6FF"/>
                </a:solidFill>
              </a:defRPr>
            </a:pPr>
            <a:r>
              <a:t>Frontend → REST API → Prediction Logic → Model → JSON Response → Frontend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46720" y="-1005840"/>
            <a:ext cx="5029200" cy="3749039"/>
          </a:xfrm>
          <a:prstGeom prst="ellipse">
            <a:avLst/>
          </a:prstGeom>
          <a:solidFill>
            <a:srgbClr val="99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88720" y="4572000"/>
            <a:ext cx="5486400" cy="3017520"/>
          </a:xfrm>
          <a:prstGeom prst="ellipse">
            <a:avLst/>
          </a:prstGeom>
          <a:solidFill>
            <a:srgbClr val="41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846320" y="5715000"/>
            <a:ext cx="4572000" cy="2011680"/>
          </a:xfrm>
          <a:prstGeom prst="ellipse">
            <a:avLst/>
          </a:prstGeom>
          <a:solidFill>
            <a:srgbClr val="FF5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20040"/>
            <a:ext cx="1234440" cy="50292"/>
          </a:xfrm>
          <a:prstGeom prst="rect">
            <a:avLst/>
          </a:prstGeom>
          <a:solidFill>
            <a:srgbClr val="41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5BBD7"/>
                </a:solidFill>
              </a:defRPr>
            </a:pPr>
            <a:r>
              <a:t>INFOSYS SPRINGBOARD  •  MILESTONE 4 FINAL  • 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30352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6FF"/>
                </a:solidFill>
              </a:defRPr>
            </a:pPr>
            <a:r>
              <a:t>Dashboard, Monitoring &amp; Analytics</a:t>
            </a:r>
          </a:p>
          <a:p>
            <a:pPr>
              <a:defRPr sz="1150">
                <a:solidFill>
                  <a:srgbClr val="B5BBD7"/>
                </a:solidFill>
              </a:defRPr>
            </a:pPr>
            <a:r>
              <a:t>The application turns model outputs into an operator-oriented interface.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08760"/>
            <a:ext cx="3429000" cy="1874519"/>
          </a:xfrm>
          <a:prstGeom prst="roundRect">
            <a:avLst/>
          </a:prstGeom>
          <a:solidFill>
            <a:srgbClr val="151130"/>
          </a:solidFill>
          <a:ln>
            <a:solidFill>
              <a:srgbClr val="41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18872"/>
          <a:lstStyle/>
          <a:p>
            <a:pPr algn="ctr">
              <a:defRPr sz="1350" b="1">
                <a:solidFill>
                  <a:srgbClr val="41DCFF"/>
                </a:solidFill>
              </a:defRPr>
            </a:pPr>
            <a:r>
              <a:t>Energy Consumption</a:t>
            </a:r>
          </a:p>
          <a:p>
            <a:pPr>
              <a:spcBef>
                <a:spcPts val="500"/>
              </a:spcBef>
              <a:defRPr sz="990">
                <a:solidFill>
                  <a:srgbClr val="F5F6FF"/>
                </a:solidFill>
              </a:defRPr>
            </a:pPr>
            <a:r>
              <a:t>Consumption trends and efficiency-oriented analytics.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429000" cy="1874519"/>
          </a:xfrm>
          <a:prstGeom prst="roundRect">
            <a:avLst/>
          </a:prstGeom>
          <a:solidFill>
            <a:srgbClr val="151130"/>
          </a:solidFill>
          <a:ln>
            <a:solidFill>
              <a:srgbClr val="99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18872"/>
          <a:lstStyle/>
          <a:p>
            <a:pPr algn="ctr">
              <a:defRPr sz="1350" b="1">
                <a:solidFill>
                  <a:srgbClr val="995CFF"/>
                </a:solidFill>
              </a:defRPr>
            </a:pPr>
            <a:r>
              <a:t>Building Summary</a:t>
            </a:r>
          </a:p>
          <a:p>
            <a:pPr>
              <a:spcBef>
                <a:spcPts val="500"/>
              </a:spcBef>
              <a:defRPr sz="990">
                <a:solidFill>
                  <a:srgbClr val="F5F6FF"/>
                </a:solidFill>
              </a:defRPr>
            </a:pPr>
            <a:r>
              <a:t>Facility-level KPIs and overall operational status.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1508760"/>
            <a:ext cx="3429000" cy="1874519"/>
          </a:xfrm>
          <a:prstGeom prst="roundRect">
            <a:avLst/>
          </a:prstGeom>
          <a:solidFill>
            <a:srgbClr val="151130"/>
          </a:solidFill>
          <a:ln>
            <a:solidFill>
              <a:srgbClr val="FF5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18872"/>
          <a:lstStyle/>
          <a:p>
            <a:pPr algn="ctr">
              <a:defRPr sz="1350" b="1">
                <a:solidFill>
                  <a:srgbClr val="FF52B1"/>
                </a:solidFill>
              </a:defRPr>
            </a:pPr>
            <a:r>
              <a:t>Site Deviation</a:t>
            </a:r>
          </a:p>
          <a:p>
            <a:pPr>
              <a:spcBef>
                <a:spcPts val="500"/>
              </a:spcBef>
              <a:defRPr sz="990">
                <a:solidFill>
                  <a:srgbClr val="F5F6FF"/>
                </a:solidFill>
              </a:defRPr>
            </a:pPr>
            <a:r>
              <a:t>Highlights deviations and performance variance.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749039"/>
            <a:ext cx="3429000" cy="1874519"/>
          </a:xfrm>
          <a:prstGeom prst="roundRect">
            <a:avLst/>
          </a:prstGeom>
          <a:solidFill>
            <a:srgbClr val="151130"/>
          </a:solidFill>
          <a:ln>
            <a:solidFill>
              <a:srgbClr val="48E5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18872"/>
          <a:lstStyle/>
          <a:p>
            <a:pPr algn="ctr">
              <a:defRPr sz="1350" b="1">
                <a:solidFill>
                  <a:srgbClr val="48E5A7"/>
                </a:solidFill>
              </a:defRPr>
            </a:pPr>
            <a:r>
              <a:t>Building Health</a:t>
            </a:r>
          </a:p>
          <a:p>
            <a:pPr>
              <a:spcBef>
                <a:spcPts val="500"/>
              </a:spcBef>
              <a:defRPr sz="990">
                <a:solidFill>
                  <a:srgbClr val="F5F6FF"/>
                </a:solidFill>
              </a:defRPr>
            </a:pPr>
            <a:r>
              <a:t>Provides an overview of HVAC/system health.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749039"/>
            <a:ext cx="3429000" cy="1874519"/>
          </a:xfrm>
          <a:prstGeom prst="roundRect">
            <a:avLst/>
          </a:prstGeom>
          <a:solidFill>
            <a:srgbClr val="151130"/>
          </a:solidFill>
          <a:ln>
            <a:solidFill>
              <a:srgbClr val="41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18872"/>
          <a:lstStyle/>
          <a:p>
            <a:pPr algn="ctr">
              <a:defRPr sz="1350" b="1">
                <a:solidFill>
                  <a:srgbClr val="41DCFF"/>
                </a:solidFill>
              </a:defRPr>
            </a:pPr>
            <a:r>
              <a:t>Fault Detection</a:t>
            </a:r>
          </a:p>
          <a:p>
            <a:pPr>
              <a:spcBef>
                <a:spcPts val="500"/>
              </a:spcBef>
              <a:defRPr sz="990">
                <a:solidFill>
                  <a:srgbClr val="F5F6FF"/>
                </a:solidFill>
              </a:defRPr>
            </a:pPr>
            <a:r>
              <a:t>Displays detected faults and predictive-maintenance information.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3749039"/>
            <a:ext cx="3429000" cy="1874519"/>
          </a:xfrm>
          <a:prstGeom prst="roundRect">
            <a:avLst/>
          </a:prstGeom>
          <a:solidFill>
            <a:srgbClr val="151130"/>
          </a:solidFill>
          <a:ln>
            <a:solidFill>
              <a:srgbClr val="99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18872"/>
          <a:lstStyle/>
          <a:p>
            <a:pPr algn="ctr">
              <a:defRPr sz="1350" b="1">
                <a:solidFill>
                  <a:srgbClr val="995CFF"/>
                </a:solidFill>
              </a:defRPr>
            </a:pPr>
            <a:r>
              <a:t>Executive Summary</a:t>
            </a:r>
          </a:p>
          <a:p>
            <a:pPr>
              <a:spcBef>
                <a:spcPts val="500"/>
              </a:spcBef>
              <a:defRPr sz="990">
                <a:solidFill>
                  <a:srgbClr val="F5F6FF"/>
                </a:solidFill>
              </a:defRPr>
            </a:pPr>
            <a:r>
              <a:t>Condenses important insights for high-level review.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46720" y="-1005840"/>
            <a:ext cx="5029200" cy="3749039"/>
          </a:xfrm>
          <a:prstGeom prst="ellipse">
            <a:avLst/>
          </a:prstGeom>
          <a:solidFill>
            <a:srgbClr val="99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88720" y="4572000"/>
            <a:ext cx="5486400" cy="3017520"/>
          </a:xfrm>
          <a:prstGeom prst="ellipse">
            <a:avLst/>
          </a:prstGeom>
          <a:solidFill>
            <a:srgbClr val="41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846320" y="5715000"/>
            <a:ext cx="4572000" cy="2011680"/>
          </a:xfrm>
          <a:prstGeom prst="ellipse">
            <a:avLst/>
          </a:prstGeom>
          <a:solidFill>
            <a:srgbClr val="FF5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20040"/>
            <a:ext cx="1234440" cy="50292"/>
          </a:xfrm>
          <a:prstGeom prst="rect">
            <a:avLst/>
          </a:prstGeom>
          <a:solidFill>
            <a:srgbClr val="41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5BBD7"/>
                </a:solidFill>
              </a:defRPr>
            </a:pPr>
            <a:r>
              <a:t>INFOSYS SPRINGBOARD  •  MILESTONE 4 FINAL  • 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30352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6FF"/>
                </a:solidFill>
              </a:defRPr>
            </a:pPr>
            <a:r>
              <a:t>End-to-End Working &amp; User Flow</a:t>
            </a:r>
          </a:p>
          <a:p>
            <a:pPr>
              <a:defRPr sz="1150">
                <a:solidFill>
                  <a:srgbClr val="B5BBD7"/>
                </a:solidFill>
              </a:defRPr>
            </a:pPr>
            <a:r>
              <a:t>A complete path from facility data to a maintenance-oriented decision.</a:t>
            </a:r>
          </a:p>
        </p:txBody>
      </p:sp>
      <p:sp>
        <p:nvSpPr>
          <p:cNvPr id="8" name="Oval 7"/>
          <p:cNvSpPr/>
          <p:nvPr/>
        </p:nvSpPr>
        <p:spPr>
          <a:xfrm>
            <a:off x="1051560" y="1600200"/>
            <a:ext cx="566928" cy="566928"/>
          </a:xfrm>
          <a:prstGeom prst="ellipse">
            <a:avLst/>
          </a:prstGeom>
          <a:solidFill>
            <a:srgbClr val="41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9071C"/>
                </a:solidFill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2331720"/>
            <a:ext cx="1783080" cy="2971800"/>
          </a:xfrm>
          <a:prstGeom prst="roundRect">
            <a:avLst/>
          </a:prstGeom>
          <a:solidFill>
            <a:srgbClr val="151130"/>
          </a:solidFill>
          <a:ln>
            <a:solidFill>
              <a:srgbClr val="41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18872"/>
          <a:lstStyle/>
          <a:p>
            <a:pPr algn="ctr">
              <a:defRPr sz="1350" b="1">
                <a:solidFill>
                  <a:srgbClr val="41DCFF"/>
                </a:solidFill>
              </a:defRPr>
            </a:pPr>
            <a:r>
              <a:t>INPUT</a:t>
            </a:r>
          </a:p>
          <a:p>
            <a:pPr>
              <a:spcBef>
                <a:spcPts val="500"/>
              </a:spcBef>
              <a:defRPr sz="950">
                <a:solidFill>
                  <a:srgbClr val="F5F6FF"/>
                </a:solidFill>
              </a:defRPr>
            </a:pPr>
            <a:r>
              <a:t>Facility / HVAC data enters the system.</a:t>
            </a:r>
          </a:p>
        </p:txBody>
      </p:sp>
      <p:sp>
        <p:nvSpPr>
          <p:cNvPr id="10" name="Oval 9"/>
          <p:cNvSpPr/>
          <p:nvPr/>
        </p:nvSpPr>
        <p:spPr>
          <a:xfrm>
            <a:off x="3017520" y="1600200"/>
            <a:ext cx="566928" cy="566928"/>
          </a:xfrm>
          <a:prstGeom prst="ellipse">
            <a:avLst/>
          </a:prstGeom>
          <a:solidFill>
            <a:srgbClr val="99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9071C"/>
                </a:solidFill>
              </a:defRPr>
            </a:pPr>
            <a: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04872" y="2331720"/>
            <a:ext cx="1783080" cy="2971800"/>
          </a:xfrm>
          <a:prstGeom prst="roundRect">
            <a:avLst/>
          </a:prstGeom>
          <a:solidFill>
            <a:srgbClr val="151130"/>
          </a:solidFill>
          <a:ln>
            <a:solidFill>
              <a:srgbClr val="99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18872"/>
          <a:lstStyle/>
          <a:p>
            <a:pPr algn="ctr">
              <a:defRPr sz="1350" b="1">
                <a:solidFill>
                  <a:srgbClr val="995CFF"/>
                </a:solidFill>
              </a:defRPr>
            </a:pPr>
            <a:r>
              <a:t>PREPARE</a:t>
            </a:r>
          </a:p>
          <a:p>
            <a:pPr>
              <a:spcBef>
                <a:spcPts val="500"/>
              </a:spcBef>
              <a:defRPr sz="950">
                <a:solidFill>
                  <a:srgbClr val="F5F6FF"/>
                </a:solidFill>
              </a:defRPr>
            </a:pPr>
            <a:r>
              <a:t>Data is cleaned and features are prepared.</a:t>
            </a:r>
          </a:p>
        </p:txBody>
      </p:sp>
      <p:sp>
        <p:nvSpPr>
          <p:cNvPr id="12" name="Oval 11"/>
          <p:cNvSpPr/>
          <p:nvPr/>
        </p:nvSpPr>
        <p:spPr>
          <a:xfrm>
            <a:off x="4983479" y="1600200"/>
            <a:ext cx="566928" cy="566928"/>
          </a:xfrm>
          <a:prstGeom prst="ellipse">
            <a:avLst/>
          </a:prstGeom>
          <a:solidFill>
            <a:srgbClr val="FF5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9071C"/>
                </a:solidFill>
              </a:defRPr>
            </a:pPr>
            <a:r>
              <a:t>03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1" y="2331720"/>
            <a:ext cx="1783080" cy="2971800"/>
          </a:xfrm>
          <a:prstGeom prst="roundRect">
            <a:avLst/>
          </a:prstGeom>
          <a:solidFill>
            <a:srgbClr val="151130"/>
          </a:solidFill>
          <a:ln>
            <a:solidFill>
              <a:srgbClr val="FF5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18872"/>
          <a:lstStyle/>
          <a:p>
            <a:pPr algn="ctr">
              <a:defRPr sz="1350" b="1">
                <a:solidFill>
                  <a:srgbClr val="FF52B1"/>
                </a:solidFill>
              </a:defRPr>
            </a:pPr>
            <a:r>
              <a:t>PREDICT</a:t>
            </a:r>
          </a:p>
          <a:p>
            <a:pPr>
              <a:spcBef>
                <a:spcPts val="500"/>
              </a:spcBef>
              <a:defRPr sz="950">
                <a:solidFill>
                  <a:srgbClr val="F5F6FF"/>
                </a:solidFill>
              </a:defRPr>
            </a:pPr>
            <a:r>
              <a:t>Random Forest models generate predictive outputs.</a:t>
            </a:r>
          </a:p>
        </p:txBody>
      </p:sp>
      <p:sp>
        <p:nvSpPr>
          <p:cNvPr id="14" name="Oval 13"/>
          <p:cNvSpPr/>
          <p:nvPr/>
        </p:nvSpPr>
        <p:spPr>
          <a:xfrm>
            <a:off x="6949440" y="1600200"/>
            <a:ext cx="566928" cy="566928"/>
          </a:xfrm>
          <a:prstGeom prst="ellipse">
            <a:avLst/>
          </a:prstGeom>
          <a:solidFill>
            <a:srgbClr val="48E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9071C"/>
                </a:solidFill>
              </a:defRPr>
            </a:pPr>
            <a:r>
              <a:t>04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36792" y="2331720"/>
            <a:ext cx="1783080" cy="2971800"/>
          </a:xfrm>
          <a:prstGeom prst="roundRect">
            <a:avLst/>
          </a:prstGeom>
          <a:solidFill>
            <a:srgbClr val="151130"/>
          </a:solidFill>
          <a:ln>
            <a:solidFill>
              <a:srgbClr val="48E5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18872"/>
          <a:lstStyle/>
          <a:p>
            <a:pPr algn="ctr">
              <a:defRPr sz="1350" b="1">
                <a:solidFill>
                  <a:srgbClr val="48E5A7"/>
                </a:solidFill>
              </a:defRPr>
            </a:pPr>
            <a:r>
              <a:t>SERVE</a:t>
            </a:r>
          </a:p>
          <a:p>
            <a:pPr>
              <a:spcBef>
                <a:spcPts val="500"/>
              </a:spcBef>
              <a:defRPr sz="950">
                <a:solidFill>
                  <a:srgbClr val="F5F6FF"/>
                </a:solidFill>
              </a:defRPr>
            </a:pPr>
            <a:r>
              <a:t>REST API exposes structured results.</a:t>
            </a:r>
          </a:p>
        </p:txBody>
      </p:sp>
      <p:sp>
        <p:nvSpPr>
          <p:cNvPr id="16" name="Oval 15"/>
          <p:cNvSpPr/>
          <p:nvPr/>
        </p:nvSpPr>
        <p:spPr>
          <a:xfrm>
            <a:off x="8915400" y="1600200"/>
            <a:ext cx="566928" cy="566928"/>
          </a:xfrm>
          <a:prstGeom prst="ellipse">
            <a:avLst/>
          </a:prstGeom>
          <a:solidFill>
            <a:srgbClr val="41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9071C"/>
                </a:solidFill>
              </a:defRPr>
            </a:pPr>
            <a:r>
              <a:t>05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02752" y="2331720"/>
            <a:ext cx="1783080" cy="2971800"/>
          </a:xfrm>
          <a:prstGeom prst="roundRect">
            <a:avLst/>
          </a:prstGeom>
          <a:solidFill>
            <a:srgbClr val="151130"/>
          </a:solidFill>
          <a:ln>
            <a:solidFill>
              <a:srgbClr val="41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18872"/>
          <a:lstStyle/>
          <a:p>
            <a:pPr algn="ctr">
              <a:defRPr sz="1350" b="1">
                <a:solidFill>
                  <a:srgbClr val="41DCFF"/>
                </a:solidFill>
              </a:defRPr>
            </a:pPr>
            <a:r>
              <a:t>VISUALIZE</a:t>
            </a:r>
          </a:p>
          <a:p>
            <a:pPr>
              <a:spcBef>
                <a:spcPts val="500"/>
              </a:spcBef>
              <a:defRPr sz="950">
                <a:solidFill>
                  <a:srgbClr val="F5F6FF"/>
                </a:solidFill>
              </a:defRPr>
            </a:pPr>
            <a:r>
              <a:t>React dashboard presents health, energy and faults.</a:t>
            </a:r>
          </a:p>
        </p:txBody>
      </p:sp>
      <p:sp>
        <p:nvSpPr>
          <p:cNvPr id="18" name="Oval 17"/>
          <p:cNvSpPr/>
          <p:nvPr/>
        </p:nvSpPr>
        <p:spPr>
          <a:xfrm>
            <a:off x="10881360" y="1600200"/>
            <a:ext cx="566928" cy="566928"/>
          </a:xfrm>
          <a:prstGeom prst="ellipse">
            <a:avLst/>
          </a:prstGeom>
          <a:solidFill>
            <a:srgbClr val="99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9071C"/>
                </a:solidFill>
              </a:defRPr>
            </a:pPr>
            <a:r>
              <a:t>06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68712" y="2331720"/>
            <a:ext cx="1783080" cy="2971800"/>
          </a:xfrm>
          <a:prstGeom prst="roundRect">
            <a:avLst/>
          </a:prstGeom>
          <a:solidFill>
            <a:srgbClr val="151130"/>
          </a:solidFill>
          <a:ln>
            <a:solidFill>
              <a:srgbClr val="99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18872"/>
          <a:lstStyle/>
          <a:p>
            <a:pPr algn="ctr">
              <a:defRPr sz="1350" b="1">
                <a:solidFill>
                  <a:srgbClr val="995CFF"/>
                </a:solidFill>
              </a:defRPr>
            </a:pPr>
            <a:r>
              <a:t>ACT</a:t>
            </a:r>
          </a:p>
          <a:p>
            <a:pPr>
              <a:spcBef>
                <a:spcPts val="500"/>
              </a:spcBef>
              <a:defRPr sz="950">
                <a:solidFill>
                  <a:srgbClr val="F5F6FF"/>
                </a:solidFill>
              </a:defRPr>
            </a:pPr>
            <a:r>
              <a:t>Risk levels and alerts support maintenance prioritization.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46720" y="-1005840"/>
            <a:ext cx="5029200" cy="3749039"/>
          </a:xfrm>
          <a:prstGeom prst="ellipse">
            <a:avLst/>
          </a:prstGeom>
          <a:solidFill>
            <a:srgbClr val="99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88720" y="4572000"/>
            <a:ext cx="5486400" cy="3017520"/>
          </a:xfrm>
          <a:prstGeom prst="ellipse">
            <a:avLst/>
          </a:prstGeom>
          <a:solidFill>
            <a:srgbClr val="41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846320" y="5715000"/>
            <a:ext cx="4572000" cy="2011680"/>
          </a:xfrm>
          <a:prstGeom prst="ellipse">
            <a:avLst/>
          </a:prstGeom>
          <a:solidFill>
            <a:srgbClr val="FF5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20040"/>
            <a:ext cx="1234440" cy="50292"/>
          </a:xfrm>
          <a:prstGeom prst="rect">
            <a:avLst/>
          </a:prstGeom>
          <a:solidFill>
            <a:srgbClr val="41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5BBD7"/>
                </a:solidFill>
              </a:defRPr>
            </a:pPr>
            <a:r>
              <a:t>INFOSYS SPRINGBOARD  •  MILESTONE 4 FINAL  • 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30352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6FF"/>
                </a:solidFill>
              </a:defRPr>
            </a:pPr>
            <a:r>
              <a:t>Technology Stack, Tools &amp; Data Assets</a:t>
            </a:r>
          </a:p>
          <a:p>
            <a:pPr>
              <a:defRPr sz="1150">
                <a:solidFill>
                  <a:srgbClr val="B5BBD7"/>
                </a:solidFill>
              </a:defRPr>
            </a:pPr>
            <a:r>
              <a:t>Technical choices kept aligned with the milestone material and project implementation.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08760"/>
            <a:ext cx="2743200" cy="1965960"/>
          </a:xfrm>
          <a:prstGeom prst="roundRect">
            <a:avLst/>
          </a:prstGeom>
          <a:solidFill>
            <a:srgbClr val="151130"/>
          </a:solidFill>
          <a:ln>
            <a:solidFill>
              <a:srgbClr val="41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18872"/>
          <a:lstStyle/>
          <a:p>
            <a:pPr algn="ctr">
              <a:defRPr sz="1350" b="1">
                <a:solidFill>
                  <a:srgbClr val="41DCFF"/>
                </a:solidFill>
              </a:defRPr>
            </a:pPr>
            <a:r>
              <a:t>FRONTEND</a:t>
            </a:r>
          </a:p>
          <a:p>
            <a:pPr>
              <a:spcBef>
                <a:spcPts val="500"/>
              </a:spcBef>
              <a:defRPr sz="980">
                <a:solidFill>
                  <a:srgbClr val="F5F6FF"/>
                </a:solidFill>
              </a:defRPr>
            </a:pPr>
            <a:r>
              <a:t>React</a:t>
            </a:r>
          </a:p>
          <a:p>
            <a:pPr>
              <a:spcBef>
                <a:spcPts val="500"/>
              </a:spcBef>
              <a:defRPr sz="980">
                <a:solidFill>
                  <a:srgbClr val="F5F6FF"/>
                </a:solidFill>
              </a:defRPr>
            </a:pPr>
            <a:r>
              <a:t>Plotly • Matplotlib</a:t>
            </a:r>
          </a:p>
          <a:p>
            <a:pPr>
              <a:spcBef>
                <a:spcPts val="500"/>
              </a:spcBef>
              <a:defRPr sz="980">
                <a:solidFill>
                  <a:srgbClr val="F5F6FF"/>
                </a:solidFill>
              </a:defRPr>
            </a:pPr>
            <a:r>
              <a:t>Interactive dashboard &amp; analytics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47872" y="1508760"/>
            <a:ext cx="2743200" cy="1965960"/>
          </a:xfrm>
          <a:prstGeom prst="roundRect">
            <a:avLst/>
          </a:prstGeom>
          <a:solidFill>
            <a:srgbClr val="151130"/>
          </a:solidFill>
          <a:ln>
            <a:solidFill>
              <a:srgbClr val="99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18872"/>
          <a:lstStyle/>
          <a:p>
            <a:pPr algn="ctr">
              <a:defRPr sz="1350" b="1">
                <a:solidFill>
                  <a:srgbClr val="995CFF"/>
                </a:solidFill>
              </a:defRPr>
            </a:pPr>
            <a:r>
              <a:t>BACKEND</a:t>
            </a:r>
          </a:p>
          <a:p>
            <a:pPr>
              <a:spcBef>
                <a:spcPts val="500"/>
              </a:spcBef>
              <a:defRPr sz="980">
                <a:solidFill>
                  <a:srgbClr val="F5F6FF"/>
                </a:solidFill>
              </a:defRPr>
            </a:pPr>
            <a:r>
              <a:t>Python</a:t>
            </a:r>
          </a:p>
          <a:p>
            <a:pPr>
              <a:spcBef>
                <a:spcPts val="500"/>
              </a:spcBef>
              <a:defRPr sz="980">
                <a:solidFill>
                  <a:srgbClr val="F5F6FF"/>
                </a:solidFill>
              </a:defRPr>
            </a:pPr>
            <a:r>
              <a:t>REST API architecture</a:t>
            </a:r>
          </a:p>
          <a:p>
            <a:pPr>
              <a:spcBef>
                <a:spcPts val="500"/>
              </a:spcBef>
              <a:defRPr sz="980">
                <a:solidFill>
                  <a:srgbClr val="F5F6FF"/>
                </a:solidFill>
              </a:defRPr>
            </a:pPr>
            <a:r>
              <a:t>Prediction / analytics delivery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01384" y="1508760"/>
            <a:ext cx="2331720" cy="1965960"/>
          </a:xfrm>
          <a:prstGeom prst="roundRect">
            <a:avLst/>
          </a:prstGeom>
          <a:solidFill>
            <a:srgbClr val="151130"/>
          </a:solidFill>
          <a:ln>
            <a:solidFill>
              <a:srgbClr val="FF5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18872"/>
          <a:lstStyle/>
          <a:p>
            <a:pPr algn="ctr">
              <a:defRPr sz="1350" b="1">
                <a:solidFill>
                  <a:srgbClr val="FF52B1"/>
                </a:solidFill>
              </a:defRPr>
            </a:pPr>
            <a:r>
              <a:t>ML / DATA</a:t>
            </a:r>
          </a:p>
          <a:p>
            <a:pPr>
              <a:spcBef>
                <a:spcPts val="500"/>
              </a:spcBef>
              <a:defRPr sz="980">
                <a:solidFill>
                  <a:srgbClr val="F5F6FF"/>
                </a:solidFill>
              </a:defRPr>
            </a:pPr>
            <a:r>
              <a:t>Scikit-learn</a:t>
            </a:r>
          </a:p>
          <a:p>
            <a:pPr>
              <a:spcBef>
                <a:spcPts val="500"/>
              </a:spcBef>
              <a:defRPr sz="980">
                <a:solidFill>
                  <a:srgbClr val="F5F6FF"/>
                </a:solidFill>
              </a:defRPr>
            </a:pPr>
            <a:r>
              <a:t>Pandas • NumPy</a:t>
            </a:r>
          </a:p>
          <a:p>
            <a:pPr>
              <a:spcBef>
                <a:spcPts val="500"/>
              </a:spcBef>
              <a:defRPr sz="980">
                <a:solidFill>
                  <a:srgbClr val="F5F6FF"/>
                </a:solidFill>
              </a:defRPr>
            </a:pPr>
            <a:r>
              <a:t>Random Forest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43416" y="1508760"/>
            <a:ext cx="2514600" cy="1965960"/>
          </a:xfrm>
          <a:prstGeom prst="roundRect">
            <a:avLst/>
          </a:prstGeom>
          <a:solidFill>
            <a:srgbClr val="151130"/>
          </a:solidFill>
          <a:ln>
            <a:solidFill>
              <a:srgbClr val="48E5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18872"/>
          <a:lstStyle/>
          <a:p>
            <a:pPr algn="ctr">
              <a:defRPr sz="1350" b="1">
                <a:solidFill>
                  <a:srgbClr val="48E5A7"/>
                </a:solidFill>
              </a:defRPr>
            </a:pPr>
            <a:r>
              <a:t>DATASETS</a:t>
            </a:r>
          </a:p>
          <a:p>
            <a:pPr>
              <a:spcBef>
                <a:spcPts val="500"/>
              </a:spcBef>
              <a:defRPr sz="980">
                <a:solidFill>
                  <a:srgbClr val="F5F6FF"/>
                </a:solidFill>
              </a:defRPr>
            </a:pPr>
            <a:r>
              <a:t>15 fault-detection datasets</a:t>
            </a:r>
          </a:p>
          <a:p>
            <a:pPr>
              <a:spcBef>
                <a:spcPts val="500"/>
              </a:spcBef>
              <a:defRPr sz="980">
                <a:solidFill>
                  <a:srgbClr val="F5F6FF"/>
                </a:solidFill>
              </a:defRPr>
            </a:pPr>
            <a:r>
              <a:t>6 documented fault types</a:t>
            </a:r>
          </a:p>
          <a:p>
            <a:pPr>
              <a:spcBef>
                <a:spcPts val="500"/>
              </a:spcBef>
              <a:defRPr sz="980">
                <a:solidFill>
                  <a:srgbClr val="F5F6FF"/>
                </a:solidFill>
              </a:defRPr>
            </a:pPr>
            <a:r>
              <a:t>Healthy + real-world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794760"/>
            <a:ext cx="5074920" cy="1828800"/>
          </a:xfrm>
          <a:prstGeom prst="roundRect">
            <a:avLst/>
          </a:prstGeom>
          <a:solidFill>
            <a:srgbClr val="151130"/>
          </a:solidFill>
          <a:ln>
            <a:solidFill>
              <a:srgbClr val="41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18872"/>
          <a:lstStyle/>
          <a:p>
            <a:pPr algn="ctr">
              <a:defRPr sz="1350" b="1">
                <a:solidFill>
                  <a:srgbClr val="41DCFF"/>
                </a:solidFill>
              </a:defRPr>
            </a:pPr>
            <a:r>
              <a:t>PRIMARY CAPABILITIES</a:t>
            </a:r>
          </a:p>
          <a:p>
            <a:pPr>
              <a:spcBef>
                <a:spcPts val="500"/>
              </a:spcBef>
              <a:defRPr sz="1019">
                <a:solidFill>
                  <a:srgbClr val="F5F6FF"/>
                </a:solidFill>
              </a:defRPr>
            </a:pPr>
            <a:r>
              <a:t>Predictive maintenance • fault detection • energy analytics • monitoring • risk classification • alerts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25312" y="3794760"/>
            <a:ext cx="5632704" cy="1828800"/>
          </a:xfrm>
          <a:prstGeom prst="roundRect">
            <a:avLst/>
          </a:prstGeom>
          <a:solidFill>
            <a:srgbClr val="151130"/>
          </a:solidFill>
          <a:ln>
            <a:solidFill>
              <a:srgbClr val="99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18872"/>
          <a:lstStyle/>
          <a:p>
            <a:pPr algn="ctr">
              <a:defRPr sz="1350" b="1">
                <a:solidFill>
                  <a:srgbClr val="995CFF"/>
                </a:solidFill>
              </a:defRPr>
            </a:pPr>
            <a:r>
              <a:t>DEVELOPMENT CHARACTERISTICS</a:t>
            </a:r>
          </a:p>
          <a:p>
            <a:pPr>
              <a:spcBef>
                <a:spcPts val="500"/>
              </a:spcBef>
              <a:defRPr sz="1019">
                <a:solidFill>
                  <a:srgbClr val="F5F6FF"/>
                </a:solidFill>
              </a:defRPr>
            </a:pPr>
            <a:r>
              <a:t>Modular components • API-based integration • reusable ML services • interactive visualization • extensible architecture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46720" y="-1005840"/>
            <a:ext cx="5029200" cy="3749039"/>
          </a:xfrm>
          <a:prstGeom prst="ellipse">
            <a:avLst/>
          </a:prstGeom>
          <a:solidFill>
            <a:srgbClr val="99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88720" y="4572000"/>
            <a:ext cx="5486400" cy="3017520"/>
          </a:xfrm>
          <a:prstGeom prst="ellipse">
            <a:avLst/>
          </a:prstGeom>
          <a:solidFill>
            <a:srgbClr val="41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846320" y="5715000"/>
            <a:ext cx="4572000" cy="2011680"/>
          </a:xfrm>
          <a:prstGeom prst="ellipse">
            <a:avLst/>
          </a:prstGeom>
          <a:solidFill>
            <a:srgbClr val="FF5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20040"/>
            <a:ext cx="1234440" cy="50292"/>
          </a:xfrm>
          <a:prstGeom prst="rect">
            <a:avLst/>
          </a:prstGeom>
          <a:solidFill>
            <a:srgbClr val="41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5BBD7"/>
                </a:solidFill>
              </a:defRPr>
            </a:pPr>
            <a:r>
              <a:t>INFOSYS SPRINGBOARD  •  MILESTONE 4 FINAL  •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30352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6FF"/>
                </a:solidFill>
              </a:defRPr>
            </a:pPr>
            <a:r>
              <a:t>Results, Validation &amp; Key Achievements</a:t>
            </a:r>
          </a:p>
          <a:p>
            <a:pPr>
              <a:defRPr sz="1150">
                <a:solidFill>
                  <a:srgbClr val="B5BBD7"/>
                </a:solidFill>
              </a:defRPr>
            </a:pPr>
            <a:r>
              <a:t>The culmination focuses on the complete workflow rather than isolated components.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45920"/>
            <a:ext cx="2606040" cy="2743200"/>
          </a:xfrm>
          <a:prstGeom prst="roundRect">
            <a:avLst/>
          </a:prstGeom>
          <a:solidFill>
            <a:srgbClr val="151130"/>
          </a:solidFill>
          <a:ln>
            <a:solidFill>
              <a:srgbClr val="41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18872"/>
          <a:lstStyle/>
          <a:p>
            <a:pPr algn="ctr">
              <a:defRPr sz="1350" b="1">
                <a:solidFill>
                  <a:srgbClr val="41DCFF"/>
                </a:solidFill>
              </a:defRPr>
            </a:pPr>
            <a:r>
              <a:t>100%</a:t>
            </a:r>
          </a:p>
          <a:p>
            <a:pPr>
              <a:spcBef>
                <a:spcPts val="500"/>
              </a:spcBef>
              <a:defRPr sz="1000">
                <a:solidFill>
                  <a:srgbClr val="F5F6FF"/>
                </a:solidFill>
              </a:defRPr>
            </a:pPr>
            <a:r>
              <a:t>Documented accuracy for the reported fault-classification evaluation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2606040" cy="2743200"/>
          </a:xfrm>
          <a:prstGeom prst="roundRect">
            <a:avLst/>
          </a:prstGeom>
          <a:solidFill>
            <a:srgbClr val="151130"/>
          </a:solidFill>
          <a:ln>
            <a:solidFill>
              <a:srgbClr val="99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18872"/>
          <a:lstStyle/>
          <a:p>
            <a:pPr algn="ctr">
              <a:defRPr sz="1350" b="1">
                <a:solidFill>
                  <a:srgbClr val="995CFF"/>
                </a:solidFill>
              </a:defRPr>
            </a:pPr>
            <a:r>
              <a:t>6</a:t>
            </a:r>
          </a:p>
          <a:p>
            <a:pPr>
              <a:spcBef>
                <a:spcPts val="500"/>
              </a:spcBef>
              <a:defRPr sz="1000">
                <a:solidFill>
                  <a:srgbClr val="F5F6FF"/>
                </a:solidFill>
              </a:defRPr>
            </a:pPr>
            <a:r>
              <a:t>Dashboard modules integrated into the final application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645920"/>
            <a:ext cx="2606040" cy="2743200"/>
          </a:xfrm>
          <a:prstGeom prst="roundRect">
            <a:avLst/>
          </a:prstGeom>
          <a:solidFill>
            <a:srgbClr val="151130"/>
          </a:solidFill>
          <a:ln>
            <a:solidFill>
              <a:srgbClr val="FF5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18872"/>
          <a:lstStyle/>
          <a:p>
            <a:pPr algn="ctr">
              <a:defRPr sz="1350" b="1">
                <a:solidFill>
                  <a:srgbClr val="FF52B1"/>
                </a:solidFill>
              </a:defRPr>
            </a:pPr>
            <a:r>
              <a:t>50K</a:t>
            </a:r>
          </a:p>
          <a:p>
            <a:pPr>
              <a:spcBef>
                <a:spcPts val="500"/>
              </a:spcBef>
              <a:defRPr sz="1000">
                <a:solidFill>
                  <a:srgbClr val="F5F6FF"/>
                </a:solidFill>
              </a:defRPr>
            </a:pPr>
            <a:r>
              <a:t>Documented batch-processing target in the milestone material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1645920"/>
            <a:ext cx="2606040" cy="2743200"/>
          </a:xfrm>
          <a:prstGeom prst="roundRect">
            <a:avLst/>
          </a:prstGeom>
          <a:solidFill>
            <a:srgbClr val="151130"/>
          </a:solidFill>
          <a:ln>
            <a:solidFill>
              <a:srgbClr val="48E5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18872"/>
          <a:lstStyle/>
          <a:p>
            <a:pPr algn="ctr">
              <a:defRPr sz="1350" b="1">
                <a:solidFill>
                  <a:srgbClr val="48E5A7"/>
                </a:solidFill>
              </a:defRPr>
            </a:pPr>
            <a:r>
              <a:t>3</a:t>
            </a:r>
          </a:p>
          <a:p>
            <a:pPr>
              <a:spcBef>
                <a:spcPts val="500"/>
              </a:spcBef>
              <a:defRPr sz="1000">
                <a:solidFill>
                  <a:srgbClr val="F5F6FF"/>
                </a:solidFill>
              </a:defRPr>
            </a:pPr>
            <a:r>
              <a:t>Automated risk levels: High, Medium and 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617720"/>
            <a:ext cx="5394960" cy="1097280"/>
          </a:xfrm>
          <a:prstGeom prst="roundRect">
            <a:avLst/>
          </a:prstGeom>
          <a:solidFill>
            <a:srgbClr val="151130"/>
          </a:solidFill>
          <a:ln>
            <a:solidFill>
              <a:srgbClr val="41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18872"/>
          <a:lstStyle/>
          <a:p>
            <a:pPr algn="ctr">
              <a:defRPr sz="1350" b="1">
                <a:solidFill>
                  <a:srgbClr val="41DCFF"/>
                </a:solidFill>
              </a:defRPr>
            </a:pPr>
            <a:r>
              <a:t>VALIDATION FOCUS</a:t>
            </a:r>
          </a:p>
          <a:p>
            <a:pPr>
              <a:spcBef>
                <a:spcPts val="500"/>
              </a:spcBef>
              <a:defRPr sz="950">
                <a:solidFill>
                  <a:srgbClr val="F5F6FF"/>
                </a:solidFill>
              </a:defRPr>
            </a:pPr>
            <a:r>
              <a:t>API behavior • model invocation • response flow • dashboard integration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4617720"/>
            <a:ext cx="5349240" cy="1097280"/>
          </a:xfrm>
          <a:prstGeom prst="roundRect">
            <a:avLst/>
          </a:prstGeom>
          <a:solidFill>
            <a:srgbClr val="151130"/>
          </a:solidFill>
          <a:ln>
            <a:solidFill>
              <a:srgbClr val="48E5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18872"/>
          <a:lstStyle/>
          <a:p>
            <a:pPr algn="ctr">
              <a:defRPr sz="1350" b="1">
                <a:solidFill>
                  <a:srgbClr val="48E5A7"/>
                </a:solidFill>
              </a:defRPr>
            </a:pPr>
            <a:r>
              <a:t>END-TO-END DEMO</a:t>
            </a:r>
          </a:p>
          <a:p>
            <a:pPr>
              <a:spcBef>
                <a:spcPts val="500"/>
              </a:spcBef>
              <a:defRPr sz="950">
                <a:solidFill>
                  <a:srgbClr val="F5F6FF"/>
                </a:solidFill>
              </a:defRPr>
            </a:pPr>
            <a:r>
              <a:t>Input → processing → prediction → API → visualization → maintenance insight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46720" y="-1005840"/>
            <a:ext cx="5029200" cy="3749039"/>
          </a:xfrm>
          <a:prstGeom prst="ellipse">
            <a:avLst/>
          </a:prstGeom>
          <a:solidFill>
            <a:srgbClr val="99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88720" y="4572000"/>
            <a:ext cx="5486400" cy="3017520"/>
          </a:xfrm>
          <a:prstGeom prst="ellipse">
            <a:avLst/>
          </a:prstGeom>
          <a:solidFill>
            <a:srgbClr val="41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846320" y="5715000"/>
            <a:ext cx="4572000" cy="2011680"/>
          </a:xfrm>
          <a:prstGeom prst="ellipse">
            <a:avLst/>
          </a:prstGeom>
          <a:solidFill>
            <a:srgbClr val="FF5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20040"/>
            <a:ext cx="1234440" cy="50292"/>
          </a:xfrm>
          <a:prstGeom prst="rect">
            <a:avLst/>
          </a:prstGeom>
          <a:solidFill>
            <a:srgbClr val="41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5BBD7"/>
                </a:solidFill>
              </a:defRPr>
            </a:pPr>
            <a:r>
              <a:t>INFOSYS SPRINGBOARD  •  MILESTONE 4 FINAL  •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30352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6FF"/>
                </a:solidFill>
              </a:defRPr>
            </a:pPr>
            <a:r>
              <a:t>Future Scope &amp; Industry Potential</a:t>
            </a:r>
          </a:p>
          <a:p>
            <a:pPr>
              <a:defRPr sz="1150">
                <a:solidFill>
                  <a:srgbClr val="B5BBD7"/>
                </a:solidFill>
              </a:defRPr>
            </a:pPr>
            <a:r>
              <a:t>The current prototype provides a foundation for a broader intelligent building platform.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2057400" cy="3474720"/>
          </a:xfrm>
          <a:prstGeom prst="roundRect">
            <a:avLst/>
          </a:prstGeom>
          <a:solidFill>
            <a:srgbClr val="151130"/>
          </a:solidFill>
          <a:ln>
            <a:solidFill>
              <a:srgbClr val="41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18872"/>
          <a:lstStyle/>
          <a:p>
            <a:pPr algn="ctr">
              <a:defRPr sz="1350" b="1">
                <a:solidFill>
                  <a:srgbClr val="41DCFF"/>
                </a:solidFill>
              </a:defRPr>
            </a:pPr>
            <a:r>
              <a:t>IoT Integration</a:t>
            </a:r>
          </a:p>
          <a:p>
            <a:pPr>
              <a:spcBef>
                <a:spcPts val="500"/>
              </a:spcBef>
              <a:defRPr sz="980">
                <a:solidFill>
                  <a:srgbClr val="F5F6FF"/>
                </a:solidFill>
              </a:defRPr>
            </a:pPr>
            <a:r>
              <a:t>Connect live HVAC sensors and edge devices.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16352" y="1828800"/>
            <a:ext cx="2057400" cy="3474720"/>
          </a:xfrm>
          <a:prstGeom prst="roundRect">
            <a:avLst/>
          </a:prstGeom>
          <a:solidFill>
            <a:srgbClr val="151130"/>
          </a:solidFill>
          <a:ln>
            <a:solidFill>
              <a:srgbClr val="99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18872"/>
          <a:lstStyle/>
          <a:p>
            <a:pPr algn="ctr">
              <a:defRPr sz="1350" b="1">
                <a:solidFill>
                  <a:srgbClr val="995CFF"/>
                </a:solidFill>
              </a:defRPr>
            </a:pPr>
            <a:r>
              <a:t>Cloud Deployment</a:t>
            </a:r>
          </a:p>
          <a:p>
            <a:pPr>
              <a:spcBef>
                <a:spcPts val="500"/>
              </a:spcBef>
              <a:defRPr sz="980">
                <a:solidFill>
                  <a:srgbClr val="F5F6FF"/>
                </a:solidFill>
              </a:defRPr>
            </a:pPr>
            <a:r>
              <a:t>Centralized monitoring for multiple buildings/sites.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9783" y="1828800"/>
            <a:ext cx="2057400" cy="3474720"/>
          </a:xfrm>
          <a:prstGeom prst="roundRect">
            <a:avLst/>
          </a:prstGeom>
          <a:solidFill>
            <a:srgbClr val="151130"/>
          </a:solidFill>
          <a:ln>
            <a:solidFill>
              <a:srgbClr val="FF5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18872"/>
          <a:lstStyle/>
          <a:p>
            <a:pPr algn="ctr">
              <a:defRPr sz="1350" b="1">
                <a:solidFill>
                  <a:srgbClr val="FF52B1"/>
                </a:solidFill>
              </a:defRPr>
            </a:pPr>
            <a:r>
              <a:t>Automated Alerts</a:t>
            </a:r>
          </a:p>
          <a:p>
            <a:pPr>
              <a:spcBef>
                <a:spcPts val="500"/>
              </a:spcBef>
              <a:defRPr sz="980">
                <a:solidFill>
                  <a:srgbClr val="F5F6FF"/>
                </a:solidFill>
              </a:defRPr>
            </a:pPr>
            <a:r>
              <a:t>Notifications, escalation and maintenance workflows.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43216" y="1828800"/>
            <a:ext cx="2057400" cy="3474720"/>
          </a:xfrm>
          <a:prstGeom prst="roundRect">
            <a:avLst/>
          </a:prstGeom>
          <a:solidFill>
            <a:srgbClr val="151130"/>
          </a:solidFill>
          <a:ln>
            <a:solidFill>
              <a:srgbClr val="48E5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18872"/>
          <a:lstStyle/>
          <a:p>
            <a:pPr algn="ctr">
              <a:defRPr sz="1350" b="1">
                <a:solidFill>
                  <a:srgbClr val="48E5A7"/>
                </a:solidFill>
              </a:defRPr>
            </a:pPr>
            <a:r>
              <a:t>Digital Twin</a:t>
            </a:r>
          </a:p>
          <a:p>
            <a:pPr>
              <a:spcBef>
                <a:spcPts val="500"/>
              </a:spcBef>
              <a:defRPr sz="980">
                <a:solidFill>
                  <a:srgbClr val="F5F6FF"/>
                </a:solidFill>
              </a:defRPr>
            </a:pPr>
            <a:r>
              <a:t>Simulation, what-if analysis and optimization.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56648" y="1828800"/>
            <a:ext cx="2057400" cy="3474720"/>
          </a:xfrm>
          <a:prstGeom prst="roundRect">
            <a:avLst/>
          </a:prstGeom>
          <a:solidFill>
            <a:srgbClr val="151130"/>
          </a:solidFill>
          <a:ln>
            <a:solidFill>
              <a:srgbClr val="41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18872"/>
          <a:lstStyle/>
          <a:p>
            <a:pPr algn="ctr">
              <a:defRPr sz="1350" b="1">
                <a:solidFill>
                  <a:srgbClr val="41DCFF"/>
                </a:solidFill>
              </a:defRPr>
            </a:pPr>
            <a:r>
              <a:t>AI Assistant</a:t>
            </a:r>
          </a:p>
          <a:p>
            <a:pPr>
              <a:spcBef>
                <a:spcPts val="500"/>
              </a:spcBef>
              <a:defRPr sz="980">
                <a:solidFill>
                  <a:srgbClr val="F5F6FF"/>
                </a:solidFill>
              </a:defRPr>
            </a:pPr>
            <a:r>
              <a:t>Natural-language incident summaries and operational guidance.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2356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5F6FF"/>
                </a:solidFill>
              </a:defRPr>
            </a:pPr>
            <a:r>
              <a:t>Long-term direction: Predictive Maintenance + Energy Optimization + Smart Building Intelligence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46720" y="-1005840"/>
            <a:ext cx="5029200" cy="3749039"/>
          </a:xfrm>
          <a:prstGeom prst="ellipse">
            <a:avLst/>
          </a:prstGeom>
          <a:solidFill>
            <a:srgbClr val="99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88720" y="4572000"/>
            <a:ext cx="5486400" cy="3017520"/>
          </a:xfrm>
          <a:prstGeom prst="ellipse">
            <a:avLst/>
          </a:prstGeom>
          <a:solidFill>
            <a:srgbClr val="41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846320" y="5715000"/>
            <a:ext cx="4572000" cy="2011680"/>
          </a:xfrm>
          <a:prstGeom prst="ellipse">
            <a:avLst/>
          </a:prstGeom>
          <a:solidFill>
            <a:srgbClr val="FF5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20040"/>
            <a:ext cx="1234440" cy="50292"/>
          </a:xfrm>
          <a:prstGeom prst="rect">
            <a:avLst/>
          </a:prstGeom>
          <a:solidFill>
            <a:srgbClr val="41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5BBD7"/>
                </a:solidFill>
              </a:defRPr>
            </a:pPr>
            <a:r>
              <a:t>INFOSYS SPRINGBOARD  •  MILESTONE 4 FINAL  •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30352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6FF"/>
                </a:solidFill>
              </a:defRPr>
            </a:pPr>
            <a:r>
              <a:t>Project Summary &amp; Culmination</a:t>
            </a:r>
          </a:p>
          <a:p>
            <a:pPr>
              <a:defRPr sz="1150">
                <a:solidFill>
                  <a:srgbClr val="B5BBD7"/>
                </a:solidFill>
              </a:defRPr>
            </a:pPr>
            <a:r>
              <a:t>Predict. Monitor. Analyze. Act.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2743200" cy="3886200"/>
          </a:xfrm>
          <a:prstGeom prst="roundRect">
            <a:avLst/>
          </a:prstGeom>
          <a:solidFill>
            <a:srgbClr val="151130"/>
          </a:solidFill>
          <a:ln>
            <a:solidFill>
              <a:srgbClr val="41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18872"/>
          <a:lstStyle/>
          <a:p>
            <a:pPr algn="ctr">
              <a:defRPr sz="1350" b="1">
                <a:solidFill>
                  <a:srgbClr val="41DCFF"/>
                </a:solidFill>
              </a:defRPr>
            </a:pPr>
            <a:r>
              <a:t>WHAT WE SOLVED</a:t>
            </a:r>
          </a:p>
          <a:p>
            <a:pPr>
              <a:spcBef>
                <a:spcPts val="500"/>
              </a:spcBef>
              <a:defRPr sz="1019">
                <a:solidFill>
                  <a:srgbClr val="F5F6FF"/>
                </a:solidFill>
              </a:defRPr>
            </a:pPr>
            <a:r>
              <a:t>Created an integrated workflow for HVAC fault visibility, energy intelligence, monitoring and maintenance support.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47872" y="1600200"/>
            <a:ext cx="2743200" cy="3886200"/>
          </a:xfrm>
          <a:prstGeom prst="roundRect">
            <a:avLst/>
          </a:prstGeom>
          <a:solidFill>
            <a:srgbClr val="151130"/>
          </a:solidFill>
          <a:ln>
            <a:solidFill>
              <a:srgbClr val="99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18872"/>
          <a:lstStyle/>
          <a:p>
            <a:pPr algn="ctr">
              <a:defRPr sz="1350" b="1">
                <a:solidFill>
                  <a:srgbClr val="995CFF"/>
                </a:solidFill>
              </a:defRPr>
            </a:pPr>
            <a:r>
              <a:t>WHAT WE BUILT</a:t>
            </a:r>
          </a:p>
          <a:p>
            <a:pPr>
              <a:spcBef>
                <a:spcPts val="500"/>
              </a:spcBef>
              <a:defRPr sz="1019">
                <a:solidFill>
                  <a:srgbClr val="F5F6FF"/>
                </a:solidFill>
              </a:defRPr>
            </a:pPr>
            <a:r>
              <a:t>Data processing + Random Forest ML + REST backend + React dashboard + analytics + risk/alert views.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01384" y="1600200"/>
            <a:ext cx="2331720" cy="3886200"/>
          </a:xfrm>
          <a:prstGeom prst="roundRect">
            <a:avLst/>
          </a:prstGeom>
          <a:solidFill>
            <a:srgbClr val="151130"/>
          </a:solidFill>
          <a:ln>
            <a:solidFill>
              <a:srgbClr val="FF5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18872"/>
          <a:lstStyle/>
          <a:p>
            <a:pPr algn="ctr">
              <a:defRPr sz="1350" b="1">
                <a:solidFill>
                  <a:srgbClr val="FF52B1"/>
                </a:solidFill>
              </a:defRPr>
            </a:pPr>
            <a:r>
              <a:t>WHAT WE LEARNED</a:t>
            </a:r>
          </a:p>
          <a:p>
            <a:pPr>
              <a:spcBef>
                <a:spcPts val="500"/>
              </a:spcBef>
              <a:defRPr sz="1019">
                <a:solidFill>
                  <a:srgbClr val="F5F6FF"/>
                </a:solidFill>
              </a:defRPr>
            </a:pPr>
            <a:r>
              <a:t>End-to-end AI application development, API integration, ML workflow, teamwork, testing and presentation.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43416" y="1600200"/>
            <a:ext cx="2514600" cy="3886200"/>
          </a:xfrm>
          <a:prstGeom prst="roundRect">
            <a:avLst/>
          </a:prstGeom>
          <a:solidFill>
            <a:srgbClr val="151130"/>
          </a:solidFill>
          <a:ln>
            <a:solidFill>
              <a:srgbClr val="48E5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18872"/>
          <a:lstStyle/>
          <a:p>
            <a:pPr algn="ctr">
              <a:defRPr sz="1350" b="1">
                <a:solidFill>
                  <a:srgbClr val="48E5A7"/>
                </a:solidFill>
              </a:defRPr>
            </a:pPr>
            <a:r>
              <a:t>WHY IT MATTERS</a:t>
            </a:r>
          </a:p>
          <a:p>
            <a:pPr>
              <a:spcBef>
                <a:spcPts val="500"/>
              </a:spcBef>
              <a:defRPr sz="1019">
                <a:solidFill>
                  <a:srgbClr val="F5F6FF"/>
                </a:solidFill>
              </a:defRPr>
            </a:pPr>
            <a:r>
              <a:t>A practical foundation for moving HVAC operations from reactive maintenance toward data-driven predictive management.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71500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5F6FF"/>
                </a:solidFill>
              </a:defRPr>
            </a:pPr>
            <a:r>
              <a:t>Thank You  • 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