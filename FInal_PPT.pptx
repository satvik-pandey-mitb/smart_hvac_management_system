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pqzpAs8JRRAvfieyqR2CtpBJH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ab4184b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ab4184b0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01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40080" y="658368"/>
            <a:ext cx="7406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Smart-HVAC-Energy-Optimization-and-AI-Based-Industrial-Maintenance-and-Process Optimization-System.pptx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Final Milestone 4 • Infosys Springboard Internship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640080" y="2651760"/>
            <a:ext cx="5074920" cy="324612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PROJECT MENTOR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Sangeetha Mahalingam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989320" y="1874519"/>
            <a:ext cx="5532120" cy="402336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Shristi Sharma</a:t>
            </a:r>
            <a:endParaRPr sz="1200">
              <a:solidFill>
                <a:srgbClr val="F5F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Satvik Pandey </a:t>
            </a:r>
            <a:endParaRPr sz="1200">
              <a:solidFill>
                <a:srgbClr val="F5F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Shashank M 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Snehith Reddy Anuka </a:t>
            </a:r>
            <a:endParaRPr sz="1200">
              <a:solidFill>
                <a:srgbClr val="F5F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Sahil Manoj Shah</a:t>
            </a:r>
            <a:endParaRPr sz="1200">
              <a:solidFill>
                <a:srgbClr val="F5F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Sai Charan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02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Project Overview &amp; Objectives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The final system brings predictive maintenance and energy intelligence into one HVAC management workflow.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640080" y="1600200"/>
            <a:ext cx="3429000" cy="416052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FF52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52B1"/>
                </a:solidFill>
                <a:latin typeface="Calibri"/>
                <a:ea typeface="Calibri"/>
                <a:cs typeface="Calibri"/>
                <a:sym typeface="Calibri"/>
              </a:rPr>
              <a:t>CORE PROBLEM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HVAC faults may become visible only after symptoms develop.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Energy consumption needs continuous analytical visibility.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Operators need one view for health, faults, deviations and energy.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4370832" y="1600200"/>
            <a:ext cx="3429000" cy="416052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Detect HVAC faults using machine learning.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Analyze and predict energy consumption.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Provide monitoring and analytics through a dashboard.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Convert predictions into maintenance-oriented risk insights.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8101583" y="1600200"/>
            <a:ext cx="3429000" cy="416052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8E5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8E5A7"/>
                </a:solidFill>
                <a:latin typeface="Calibri"/>
                <a:ea typeface="Calibri"/>
                <a:cs typeface="Calibri"/>
                <a:sym typeface="Calibri"/>
              </a:rPr>
              <a:t>FINAL OUTCOME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Integrated prototype connecting: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Data preparation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Random Forest models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REST backend services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React dashboard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Monitoring, analytics and alerts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03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Project Progress Across Four Milestones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From abstract and architecture to an integrated demonstrable prototype.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594360" y="1600200"/>
            <a:ext cx="2606040" cy="406908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MILESTONE 1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Ideation &amp; Scope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5F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Problem statement, objectives, abstract, proposed solution and initial architecture.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3474720" y="1600200"/>
            <a:ext cx="2606040" cy="406908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MILESTONE 2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Development Foundation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5F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Dataset work, ML pipeline, backend foundation and frontend structure.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6355080" y="1600200"/>
            <a:ext cx="2606040" cy="406908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FF52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52B1"/>
                </a:solidFill>
                <a:latin typeface="Calibri"/>
                <a:ea typeface="Calibri"/>
                <a:cs typeface="Calibri"/>
                <a:sym typeface="Calibri"/>
              </a:rPr>
              <a:t>MILESTONE 3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System Integration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5F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Prediction workflow, dashboard modules, analytics and monitoring integration.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9235440" y="1600200"/>
            <a:ext cx="2606040" cy="406908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8E5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8E5A7"/>
                </a:solidFill>
                <a:latin typeface="Calibri"/>
                <a:ea typeface="Calibri"/>
                <a:cs typeface="Calibri"/>
                <a:sym typeface="Calibri"/>
              </a:rPr>
              <a:t>MILESTONE 4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Final Culmination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5F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End-to-end integration, validation, final capabilities, results and future scope.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04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Final System Architecture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Data → ML → API → Dashboard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40080" y="1828800"/>
            <a:ext cx="2487168" cy="34290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Facility/HVAC datasets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Cleaning • timestamps • prepared features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3493008" y="1828800"/>
            <a:ext cx="2487168" cy="34290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ML LAYER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Random Forest classification &amp; regression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6345936" y="1828800"/>
            <a:ext cx="2487168" cy="34290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FF52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52B1"/>
                </a:solidFill>
                <a:latin typeface="Calibri"/>
                <a:ea typeface="Calibri"/>
                <a:cs typeface="Calibri"/>
                <a:sym typeface="Calibri"/>
              </a:rPr>
              <a:t>API LAYER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Python REST services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Request → prediction → response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9198863" y="1828800"/>
            <a:ext cx="2487168" cy="34290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8E5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8E5A7"/>
                </a:solidFill>
                <a:latin typeface="Calibri"/>
                <a:ea typeface="Calibri"/>
                <a:cs typeface="Calibri"/>
                <a:sym typeface="Calibri"/>
              </a:rPr>
              <a:t>UI LAYER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React dashboard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Monitoring • analytics • alerts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Data Input  →  Preprocessing  →  ML Prediction  →  REST API  →  Dashboard  →  Maintenance Insight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05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Data Preparation &amp; Machine Learning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The intelligence layer converts facility data into predictive outputs.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594360" y="1554480"/>
            <a:ext cx="2743200" cy="429768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Dataset loading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Cleaning and preparation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Timestamp normalization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Feature preparation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Rolling statistics / temporal features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Temperature, pressure and humidity signals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547872" y="1554480"/>
            <a:ext cx="2743200" cy="429768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FAULT DETECTION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Random Forest classifier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HVAC fault classification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Documented datasets cover 6 fault types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Healthy baseline included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Prediction surfaced to application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501384" y="1554480"/>
            <a:ext cx="2331720" cy="429768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FF52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52B1"/>
                </a:solidFill>
                <a:latin typeface="Calibri"/>
                <a:ea typeface="Calibri"/>
                <a:cs typeface="Calibri"/>
                <a:sym typeface="Calibri"/>
              </a:rPr>
              <a:t>ENERGY INTELLIGENCE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Energy-consumption analysis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Random Forest regression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Building / zone-oriented insights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Historical and analytical views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9043416" y="1554480"/>
            <a:ext cx="2514600" cy="429768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8E5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8E5A7"/>
                </a:solidFill>
                <a:latin typeface="Calibri"/>
                <a:ea typeface="Calibri"/>
                <a:cs typeface="Calibri"/>
                <a:sym typeface="Calibri"/>
              </a:rPr>
              <a:t>RISK &amp; ACTION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Prediction results become user-facing insights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High / Medium / Low risk levels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Fault alerts support maintenance prioritization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06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Backend API &amp; Integration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Member 2 focus — the backend bridges the application and predictive services.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94360" y="1554480"/>
            <a:ext cx="2606040" cy="425196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API RESPONSIBILITY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Expose application functionality through REST endpoints and provide a consistent communication layer for the frontend.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401568" y="1554480"/>
            <a:ext cx="2606040" cy="425196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REQUEST FLOW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1. Frontend sends request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2. Backend validates input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3. Prediction service is invoked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4. Model processes features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5. Structured response is returned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208776" y="1554480"/>
            <a:ext cx="2606040" cy="425196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FF52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52B1"/>
                </a:solidFill>
                <a:latin typeface="Calibri"/>
                <a:ea typeface="Calibri"/>
                <a:cs typeface="Calibri"/>
                <a:sym typeface="Calibri"/>
              </a:rPr>
              <a:t>MODEL CONNECTION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Python ML components are connected to application services so trained models can be used in the operational workflow.</a:t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9015984" y="1554480"/>
            <a:ext cx="2606040" cy="425196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8E5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8E5A7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Separating API logic from UI and ML logic makes the application modular and provides a foundation for future IoT/cloud integration.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Frontend → REST API → Prediction Logic → Model → JSON Response → Frontend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07</a:t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Dashboard, Monitoring &amp; Analytics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The application turns model outputs into an operator-oriented interface.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94360" y="1508760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Energy Consumption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Consumption trends and efficiency-oriented analytics.</a:t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389120" y="1508760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Building Summary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Facility-level KPIs and overall operational status.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8183880" y="1508760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FF52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52B1"/>
                </a:solidFill>
                <a:latin typeface="Calibri"/>
                <a:ea typeface="Calibri"/>
                <a:cs typeface="Calibri"/>
                <a:sym typeface="Calibri"/>
              </a:rPr>
              <a:t>Site Deviation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Highlights deviations and performance variance.</a:t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594360" y="3749039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8E5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8E5A7"/>
                </a:solidFill>
                <a:latin typeface="Calibri"/>
                <a:ea typeface="Calibri"/>
                <a:cs typeface="Calibri"/>
                <a:sym typeface="Calibri"/>
              </a:rPr>
              <a:t>Building Health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Provides an overview of HVAC/system health.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389120" y="3749039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Fault Detection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Displays detected faults and predictive-maintenance information.</a:t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8183880" y="3749039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Condenses important insights for high-level review.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08</a:t>
            </a: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End-to-End Working &amp; User Flow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A complete path from facility data to a maintenance-oriented decision.</a:t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1051560" y="1600200"/>
            <a:ext cx="566928" cy="566928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9071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438912" y="2331720"/>
            <a:ext cx="1783080" cy="29718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Facility / HVAC data enters the system.</a:t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3017520" y="1600200"/>
            <a:ext cx="566928" cy="566928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9071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2404872" y="2331720"/>
            <a:ext cx="1783080" cy="29718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PREPARE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Data is cleaned and features are prepared.</a:t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983479" y="1600200"/>
            <a:ext cx="566928" cy="566928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9071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370831" y="2331720"/>
            <a:ext cx="1783080" cy="29718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FF52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52B1"/>
                </a:solidFill>
                <a:latin typeface="Calibri"/>
                <a:ea typeface="Calibri"/>
                <a:cs typeface="Calibri"/>
                <a:sym typeface="Calibri"/>
              </a:rPr>
              <a:t>PREDICT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Random Forest models generate predictive outputs.</a:t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949440" y="1600200"/>
            <a:ext cx="566928" cy="566928"/>
          </a:xfrm>
          <a:prstGeom prst="ellipse">
            <a:avLst/>
          </a:prstGeom>
          <a:solidFill>
            <a:srgbClr val="48E5A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9071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336792" y="2331720"/>
            <a:ext cx="1783080" cy="29718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8E5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8E5A7"/>
                </a:solidFill>
                <a:latin typeface="Calibri"/>
                <a:ea typeface="Calibri"/>
                <a:cs typeface="Calibri"/>
                <a:sym typeface="Calibri"/>
              </a:rPr>
              <a:t>SERVE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REST API exposes structured results.</a:t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8915400" y="1600200"/>
            <a:ext cx="566928" cy="566928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9071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8302752" y="2331720"/>
            <a:ext cx="1783080" cy="29718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VISUALIZE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React dashboard presents health, energy and faults.</a:t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10881360" y="1600200"/>
            <a:ext cx="566928" cy="566928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9071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0268712" y="2331720"/>
            <a:ext cx="1783080" cy="29718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Risk levels and alerts support maintenance prioritization.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09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Technology Stack, Tools &amp; Data Assets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Technical choices kept aligned with the milestone material and project implementation.</a:t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594360" y="1508760"/>
            <a:ext cx="2743200" cy="196596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Plotly • Matplotlib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Interactive dashboard &amp; analytics</a:t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3547872" y="1508760"/>
            <a:ext cx="2743200" cy="196596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REST API architecture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Prediction / analytics delivery</a:t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501384" y="1508760"/>
            <a:ext cx="2331720" cy="196596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FF52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52B1"/>
                </a:solidFill>
                <a:latin typeface="Calibri"/>
                <a:ea typeface="Calibri"/>
                <a:cs typeface="Calibri"/>
                <a:sym typeface="Calibri"/>
              </a:rPr>
              <a:t>ML / DATA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Pandas • NumPy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9043416" y="1508760"/>
            <a:ext cx="2514600" cy="196596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8E5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8E5A7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15 fault-detection datasets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6 documented fault types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Healthy + real-world data</a:t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594360" y="3794760"/>
            <a:ext cx="5074920" cy="18288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PRIMARY CAPABILITIES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Predictive maintenance • fault detection • energy analytics • monitoring • risk classification • alerts</a:t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5925312" y="3794760"/>
            <a:ext cx="5632704" cy="18288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DEVELOPMENT CHARACTERISTICS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Modular components • API-based integration • reusable ML services • interactive visualization • extensible architecture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10</a:t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Results, Validation &amp; Key Achievements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The culmination focuses on the complete workflow rather than isolated components.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594360" y="1645920"/>
            <a:ext cx="2606040" cy="27432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Documented accuracy for the reported fault-classification evaluation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474720" y="1645920"/>
            <a:ext cx="2606040" cy="27432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Dashboard modules integrated into the final application</a:t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6355080" y="1645920"/>
            <a:ext cx="2606040" cy="27432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FF52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52B1"/>
                </a:solidFill>
                <a:latin typeface="Calibri"/>
                <a:ea typeface="Calibri"/>
                <a:cs typeface="Calibri"/>
                <a:sym typeface="Calibri"/>
              </a:rPr>
              <a:t>50K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Documented batch-processing target in the milestone material</a:t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9235440" y="1645920"/>
            <a:ext cx="2606040" cy="27432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8E5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8E5A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Automated risk levels: High, Medium and Low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594360" y="4617720"/>
            <a:ext cx="5394960" cy="109728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VALIDATION FOCUS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API behavior • model invocation • response flow • dashboard integration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6199632" y="4617720"/>
            <a:ext cx="5349240" cy="109728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8E5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8E5A7"/>
                </a:solidFill>
                <a:latin typeface="Calibri"/>
                <a:ea typeface="Calibri"/>
                <a:cs typeface="Calibri"/>
                <a:sym typeface="Calibri"/>
              </a:rPr>
              <a:t>END-TO-END DEMO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Input → processing → prediction → API → visualization → maintenance insight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11</a:t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Future Scope &amp; Industry Potential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The current prototype provides a foundation for a broader intelligent building platform.</a:t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502920" y="1828800"/>
            <a:ext cx="2057400" cy="347472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IoT Integration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Connect live HVAC sensors and edge devices.</a:t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2816352" y="1828800"/>
            <a:ext cx="2057400" cy="347472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Cloud Deployment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Centralized monitoring for multiple buildings/sites.</a:t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5129783" y="1828800"/>
            <a:ext cx="2057400" cy="347472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FF52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52B1"/>
                </a:solidFill>
                <a:latin typeface="Calibri"/>
                <a:ea typeface="Calibri"/>
                <a:cs typeface="Calibri"/>
                <a:sym typeface="Calibri"/>
              </a:rPr>
              <a:t>Automated Alerts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Notifications, escalation and maintenance workflows.</a:t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443216" y="1828800"/>
            <a:ext cx="2057400" cy="347472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8E5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8E5A7"/>
                </a:solidFill>
                <a:latin typeface="Calibri"/>
                <a:ea typeface="Calibri"/>
                <a:cs typeface="Calibri"/>
                <a:sym typeface="Calibri"/>
              </a:rPr>
              <a:t>Digital Twin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Simulation, what-if analysis and optimization.</a:t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9756648" y="1828800"/>
            <a:ext cx="2057400" cy="347472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AI Assistant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Natural-language incident summaries and operational guidance.</a:t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Long-term direction: Predictive Maintenance + Energy Optimization + Smart Building Intelligence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/>
          <p:nvPr/>
        </p:nvSpPr>
        <p:spPr>
          <a:xfrm>
            <a:off x="8046720" y="-1005840"/>
            <a:ext cx="5029200" cy="3749039"/>
          </a:xfrm>
          <a:prstGeom prst="ellipse">
            <a:avLst/>
          </a:prstGeom>
          <a:solidFill>
            <a:srgbClr val="995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-1188720" y="4572000"/>
            <a:ext cx="5486400" cy="301752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4846320" y="5715000"/>
            <a:ext cx="4572000" cy="201168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02920" y="320040"/>
            <a:ext cx="1234440" cy="50292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548640" y="6437376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12</a:t>
            </a:r>
            <a:endParaRPr/>
          </a:p>
        </p:txBody>
      </p:sp>
      <p:sp>
        <p:nvSpPr>
          <p:cNvPr id="258" name="Google Shape;258;p12"/>
          <p:cNvSpPr txBox="1"/>
          <p:nvPr/>
        </p:nvSpPr>
        <p:spPr>
          <a:xfrm>
            <a:off x="594360" y="53035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Project Summary &amp; Culmination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Predict. Monitor. Analyze. Act.</a:t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594360" y="1600200"/>
            <a:ext cx="2743200" cy="38862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WHAT WE SOLVED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Created an integrated workflow for HVAC fault visibility, energy intelligence, monitoring and maintenance support.</a:t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3547872" y="1600200"/>
            <a:ext cx="2743200" cy="38862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Data processing + Random Forest ML + REST backend + React dashboard + analytics + risk/alert views.</a:t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6501384" y="1600200"/>
            <a:ext cx="2331720" cy="38862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FF52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52B1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End-to-end AI application development, API integration, ML workflow, teamwork, testing and presentation.</a:t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9043416" y="1600200"/>
            <a:ext cx="2514600" cy="38862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8E5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8E5A7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A practical foundation for moving HVAC operations from reactive maintenance toward data-driven predictive management.</a:t>
            </a:r>
            <a:endParaRPr/>
          </a:p>
        </p:txBody>
      </p:sp>
      <p:sp>
        <p:nvSpPr>
          <p:cNvPr id="263" name="Google Shape;263;p12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Thank You  •  Questions &amp; Discussion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1C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ab4184b03_0_0"/>
          <p:cNvSpPr/>
          <p:nvPr/>
        </p:nvSpPr>
        <p:spPr>
          <a:xfrm>
            <a:off x="-1188720" y="4572000"/>
            <a:ext cx="5486400" cy="3017400"/>
          </a:xfrm>
          <a:prstGeom prst="ellipse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ab4184b03_0_0"/>
          <p:cNvSpPr/>
          <p:nvPr/>
        </p:nvSpPr>
        <p:spPr>
          <a:xfrm>
            <a:off x="4846320" y="5715000"/>
            <a:ext cx="4572000" cy="2011800"/>
          </a:xfrm>
          <a:prstGeom prst="ellipse">
            <a:avLst/>
          </a:prstGeom>
          <a:solidFill>
            <a:srgbClr val="FF52B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ab4184b03_0_0"/>
          <p:cNvSpPr/>
          <p:nvPr/>
        </p:nvSpPr>
        <p:spPr>
          <a:xfrm>
            <a:off x="502920" y="320040"/>
            <a:ext cx="1234500" cy="50400"/>
          </a:xfrm>
          <a:prstGeom prst="rect">
            <a:avLst/>
          </a:prstGeom>
          <a:solidFill>
            <a:srgbClr val="41DC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ab4184b03_0_0"/>
          <p:cNvSpPr txBox="1"/>
          <p:nvPr/>
        </p:nvSpPr>
        <p:spPr>
          <a:xfrm>
            <a:off x="548640" y="6437376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5BBD7"/>
                </a:solidFill>
                <a:latin typeface="Calibri"/>
                <a:ea typeface="Calibri"/>
                <a:cs typeface="Calibri"/>
                <a:sym typeface="Calibri"/>
              </a:rPr>
              <a:t>INFOSYS SPRINGBOARD  •  MILESTONE 4 FINAL  •  01</a:t>
            </a:r>
            <a:endParaRPr/>
          </a:p>
        </p:txBody>
      </p:sp>
      <p:sp>
        <p:nvSpPr>
          <p:cNvPr id="272" name="Google Shape;272;g3fab4184b03_0_0"/>
          <p:cNvSpPr txBox="1"/>
          <p:nvPr/>
        </p:nvSpPr>
        <p:spPr>
          <a:xfrm>
            <a:off x="640080" y="658368"/>
            <a:ext cx="740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Team Members’ Individual Contribution</a:t>
            </a:r>
            <a:endParaRPr/>
          </a:p>
        </p:txBody>
      </p:sp>
      <p:sp>
        <p:nvSpPr>
          <p:cNvPr id="273" name="Google Shape;273;g3fab4184b03_0_0"/>
          <p:cNvSpPr/>
          <p:nvPr/>
        </p:nvSpPr>
        <p:spPr>
          <a:xfrm>
            <a:off x="640080" y="2651760"/>
            <a:ext cx="5074800" cy="32460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995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5CFF"/>
                </a:solidFill>
                <a:latin typeface="Calibri"/>
                <a:ea typeface="Calibri"/>
                <a:cs typeface="Calibri"/>
                <a:sym typeface="Calibri"/>
              </a:rPr>
              <a:t>PROJECT MENTOR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Sangeetha Mahalingam</a:t>
            </a:r>
            <a:endParaRPr/>
          </a:p>
        </p:txBody>
      </p:sp>
      <p:sp>
        <p:nvSpPr>
          <p:cNvPr id="274" name="Google Shape;274;g3fab4184b03_0_0"/>
          <p:cNvSpPr/>
          <p:nvPr/>
        </p:nvSpPr>
        <p:spPr>
          <a:xfrm>
            <a:off x="5989320" y="1874519"/>
            <a:ext cx="5532000" cy="4023300"/>
          </a:xfrm>
          <a:prstGeom prst="roundRect">
            <a:avLst>
              <a:gd fmla="val 16667" name="adj"/>
            </a:avLst>
          </a:prstGeom>
          <a:solidFill>
            <a:srgbClr val="151130"/>
          </a:solidFill>
          <a:ln cap="flat" cmpd="sng" w="9525">
            <a:solidFill>
              <a:srgbClr val="41D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64575" spcFirstLastPara="1" rIns="146300" wrap="square" tIns="11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1DCFF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Shristi Sharma - Data Processing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Satvik Pandey - ML models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Shashank M </a:t>
            </a:r>
            <a:r>
              <a:rPr lang="en-US" sz="1200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- Dashboard creation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Snehith Reddy Anuka - Frontend Development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Sahil Manoj Shah - Backend Development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6FF"/>
                </a:solidFill>
                <a:latin typeface="Calibri"/>
                <a:ea typeface="Calibri"/>
                <a:cs typeface="Calibri"/>
                <a:sym typeface="Calibri"/>
              </a:rPr>
              <a:t>• Sai Charan - Project Introduction &amp; Architecture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