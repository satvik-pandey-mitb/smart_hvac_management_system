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Lora" panose="020F0502020204030204" pitchFamily="2" charset="0"/>
      <p:regular r:id="rId10"/>
    </p:embeddedFont>
    <p:embeddedFont>
      <p:font typeface="Source Sans 3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14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2152"/>
            <a:ext cx="10795524" cy="1062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Smart HVAC Energy Optimization &amp; AI-Powered Predictive Maintenance System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93293" y="1941810"/>
            <a:ext cx="11405108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Intelligent Facility Management Platform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98086" y="2515096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2933105"/>
            <a:ext cx="5177502" cy="265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Team Members: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98086" y="3362226"/>
            <a:ext cx="5177502" cy="235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Shristi Sharma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Satvik Pandey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Shashank M M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Snehith Reddy Anuka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Sahil Manoj Shah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Sai Charan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8086" y="5876627"/>
            <a:ext cx="5177502" cy="265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Mentor: </a:t>
            </a:r>
            <a:r>
              <a:rPr lang="en-US" sz="16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Sangeetha Mahalingam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22457" y="2916734"/>
            <a:ext cx="5177502" cy="1376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fully implemented AI-powered platform delivering intelligent energy optimization, predictive maintenance, and real-time analytics for modern facility management.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664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 &amp; Implemented Solution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98086" y="1355130"/>
            <a:ext cx="620102" cy="242491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3829" y="1402953"/>
            <a:ext cx="1038199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8086" y="1648619"/>
            <a:ext cx="520310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Traditional HVAC Challenges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026841"/>
            <a:ext cx="5203100" cy="1293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873" y="2205434"/>
            <a:ext cx="476972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 Energy Costs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52873" y="2567682"/>
            <a:ext cx="4769723" cy="574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Uncontrolled consumption and inflated operational expenditures across facilities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448348"/>
            <a:ext cx="5203100" cy="1293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2873" y="3626941"/>
            <a:ext cx="476972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Reactive Maintenance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52873" y="3989189"/>
            <a:ext cx="4769723" cy="574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Unexpected equipment failures with no predictive warning systems in place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869855"/>
            <a:ext cx="5203100" cy="1293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52873" y="5048448"/>
            <a:ext cx="476972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Monitoring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52873" y="5410696"/>
            <a:ext cx="4769723" cy="574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visibility into system performance with no centralized analytics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296860" y="1355130"/>
            <a:ext cx="532097" cy="242491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</p:sp>
      <p:sp>
        <p:nvSpPr>
          <p:cNvPr id="16" name="Text 11"/>
          <p:cNvSpPr/>
          <p:nvPr/>
        </p:nvSpPr>
        <p:spPr>
          <a:xfrm>
            <a:off x="6392603" y="1402953"/>
            <a:ext cx="950194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AFTER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296860" y="1648619"/>
            <a:ext cx="520310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AI-Powered Smart HVAC System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296860" y="2026841"/>
            <a:ext cx="2537754" cy="2064941"/>
          </a:xfrm>
          <a:prstGeom prst="roundRect">
            <a:avLst>
              <a:gd name="adj" fmla="val 1159"/>
            </a:avLst>
          </a:prstGeom>
          <a:solidFill>
            <a:srgbClr val="444752"/>
          </a:solidFill>
          <a:ln/>
        </p:spPr>
      </p:sp>
      <p:sp>
        <p:nvSpPr>
          <p:cNvPr id="19" name="Text 14"/>
          <p:cNvSpPr/>
          <p:nvPr/>
        </p:nvSpPr>
        <p:spPr>
          <a:xfrm>
            <a:off x="6456399" y="2186384"/>
            <a:ext cx="2218674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Data Processing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56399" y="2783284"/>
            <a:ext cx="2218674" cy="114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pipeline handles ingestion, cleaning, and real-time analysis</a:t>
            </a:r>
            <a:endParaRPr lang="en-US" sz="1550" dirty="0"/>
          </a:p>
        </p:txBody>
      </p:sp>
      <p:sp>
        <p:nvSpPr>
          <p:cNvPr id="21" name="Shape 16"/>
          <p:cNvSpPr/>
          <p:nvPr/>
        </p:nvSpPr>
        <p:spPr>
          <a:xfrm>
            <a:off x="8962205" y="2026841"/>
            <a:ext cx="2537754" cy="2064941"/>
          </a:xfrm>
          <a:prstGeom prst="roundRect">
            <a:avLst>
              <a:gd name="adj" fmla="val 1159"/>
            </a:avLst>
          </a:prstGeom>
          <a:solidFill>
            <a:srgbClr val="444752"/>
          </a:solidFill>
          <a:ln/>
        </p:spPr>
      </p:sp>
      <p:sp>
        <p:nvSpPr>
          <p:cNvPr id="22" name="Text 17"/>
          <p:cNvSpPr/>
          <p:nvPr/>
        </p:nvSpPr>
        <p:spPr>
          <a:xfrm>
            <a:off x="9121745" y="2186384"/>
            <a:ext cx="221867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ML Predictive Insights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9121745" y="2548632"/>
            <a:ext cx="2218674" cy="114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models deliver proactive fault detection and maintenance alerts</a:t>
            </a:r>
            <a:endParaRPr lang="en-US" sz="1550" dirty="0"/>
          </a:p>
        </p:txBody>
      </p:sp>
      <p:sp>
        <p:nvSpPr>
          <p:cNvPr id="24" name="Shape 19"/>
          <p:cNvSpPr/>
          <p:nvPr/>
        </p:nvSpPr>
        <p:spPr>
          <a:xfrm>
            <a:off x="6296860" y="4219377"/>
            <a:ext cx="5203100" cy="1255812"/>
          </a:xfrm>
          <a:prstGeom prst="roundRect">
            <a:avLst>
              <a:gd name="adj" fmla="val 1906"/>
            </a:avLst>
          </a:prstGeom>
          <a:solidFill>
            <a:srgbClr val="444752"/>
          </a:solidFill>
          <a:ln/>
        </p:spPr>
      </p:sp>
      <p:sp>
        <p:nvSpPr>
          <p:cNvPr id="25" name="Text 20"/>
          <p:cNvSpPr/>
          <p:nvPr/>
        </p:nvSpPr>
        <p:spPr>
          <a:xfrm>
            <a:off x="6456399" y="4378920"/>
            <a:ext cx="488402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Intelligent Optimization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456399" y="4741168"/>
            <a:ext cx="4884020" cy="574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Energy efficiency recommendations and executive KPI dashboards delivered continuously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2549"/>
            <a:ext cx="10795524" cy="363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Implemented System Architecture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126" y="1069082"/>
            <a:ext cx="4121345" cy="2446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03626" y="2953560"/>
            <a:ext cx="1024450" cy="18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612538" y="2953560"/>
            <a:ext cx="1024451" cy="18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ML Tier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300400" y="2953560"/>
            <a:ext cx="1024450" cy="18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Tier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98086" y="3601244"/>
            <a:ext cx="10795524" cy="400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architecture operates across three integrated tiers — raw data ingestion, machine learning processing, and interactive presentation — enabling seamless real-time analytics delivery.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087614"/>
            <a:ext cx="308860" cy="3088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8086" y="4492129"/>
            <a:ext cx="5349940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98086" y="4719737"/>
            <a:ext cx="5349940" cy="400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loading, cleaning, and timestamp normalization across all facility datasets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3670" y="4087614"/>
            <a:ext cx="308860" cy="3088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43670" y="4492129"/>
            <a:ext cx="5349940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143670" y="4719737"/>
            <a:ext cx="5349940" cy="400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engineering and predictive model training powering fault detection and energy insights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5273080"/>
            <a:ext cx="308860" cy="3088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8086" y="5677595"/>
            <a:ext cx="5349940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98086" y="5905202"/>
            <a:ext cx="5349940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Flask-based REST API serving real-time analytics to the frontend dashboard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3670" y="5273080"/>
            <a:ext cx="308860" cy="3088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143670" y="5677595"/>
            <a:ext cx="5349940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Analytics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6143670" y="5905202"/>
            <a:ext cx="5349940" cy="400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React-based interactive visualization delivering live monitoring and operational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25698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Processing &amp; Machine Learning Pipeline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5" y="1877913"/>
            <a:ext cx="4809518" cy="4154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2552" y="1480542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Processing Capabilities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272552" y="1795859"/>
            <a:ext cx="314119" cy="3141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6331089" y="1829743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84398" y="1843782"/>
            <a:ext cx="4815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84398" y="2146895"/>
            <a:ext cx="4815561" cy="47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Rolling statistics and temporal feature extraction from sensor data, including temperature, pressure, and humidity readings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2552" y="2817019"/>
            <a:ext cx="314119" cy="3141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0" name="Text 7"/>
          <p:cNvSpPr/>
          <p:nvPr/>
        </p:nvSpPr>
        <p:spPr>
          <a:xfrm>
            <a:off x="6331089" y="2850902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684398" y="2864941"/>
            <a:ext cx="4815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Energy Analysis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84398" y="3168055"/>
            <a:ext cx="4815561" cy="47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Consumption pattern analysis and efficiency metrics across facility zones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72552" y="3838178"/>
            <a:ext cx="314119" cy="3141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6331089" y="3872061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684398" y="3886101"/>
            <a:ext cx="4815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Fault Detection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84398" y="4189214"/>
            <a:ext cx="4815561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 Forest model achieving 100% accuracy on fault classification for Condenser Fouling, Evaporator Fouling, and Refrigerant Overcharge/Undercharge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72552" y="5096669"/>
            <a:ext cx="314119" cy="3141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8" name="Text 15"/>
          <p:cNvSpPr/>
          <p:nvPr/>
        </p:nvSpPr>
        <p:spPr>
          <a:xfrm>
            <a:off x="6331089" y="5130552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684398" y="5144591"/>
            <a:ext cx="4815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84398" y="5447705"/>
            <a:ext cx="4815561" cy="47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KPI generation and risk classification (High/Medium/Low) with actionable maintenance alerts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2847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&amp; Analytics Platform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158875"/>
            <a:ext cx="10795524" cy="47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displays real-time monitoring, energy consumption analysis, building health metrics, fault detection, and executive summaries through an integrated analytics dashboard.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1743472"/>
            <a:ext cx="5348848" cy="1297186"/>
          </a:xfrm>
          <a:prstGeom prst="roundRect">
            <a:avLst>
              <a:gd name="adj" fmla="val 1615"/>
            </a:avLst>
          </a:prstGeom>
          <a:solidFill>
            <a:srgbClr val="444752"/>
          </a:solidFill>
          <a:ln/>
        </p:spPr>
      </p:sp>
      <p:sp>
        <p:nvSpPr>
          <p:cNvPr id="5" name="Shape 3"/>
          <p:cNvSpPr/>
          <p:nvPr/>
        </p:nvSpPr>
        <p:spPr>
          <a:xfrm>
            <a:off x="837683" y="1883073"/>
            <a:ext cx="418891" cy="418902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873" y="1998266"/>
            <a:ext cx="188412" cy="1884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683" y="2399705"/>
            <a:ext cx="506965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Energy Consumption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7683" y="2663726"/>
            <a:ext cx="5069654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and historical energy usage tracking with trend analysis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44662" y="1743472"/>
            <a:ext cx="5348947" cy="1297186"/>
          </a:xfrm>
          <a:prstGeom prst="roundRect">
            <a:avLst>
              <a:gd name="adj" fmla="val 1615"/>
            </a:avLst>
          </a:prstGeom>
          <a:solidFill>
            <a:srgbClr val="444752"/>
          </a:solidFill>
          <a:ln/>
        </p:spPr>
      </p:sp>
      <p:sp>
        <p:nvSpPr>
          <p:cNvPr id="10" name="Shape 7"/>
          <p:cNvSpPr/>
          <p:nvPr/>
        </p:nvSpPr>
        <p:spPr>
          <a:xfrm>
            <a:off x="6284259" y="1883073"/>
            <a:ext cx="418891" cy="418902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9449" y="1998266"/>
            <a:ext cx="188412" cy="1884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4259" y="2399705"/>
            <a:ext cx="506975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Building Summary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284259" y="2663726"/>
            <a:ext cx="5069753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Facility-wide operational status and performance metrics at a glance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98086" y="3138388"/>
            <a:ext cx="5348848" cy="1534517"/>
          </a:xfrm>
          <a:prstGeom prst="roundRect">
            <a:avLst>
              <a:gd name="adj" fmla="val 1365"/>
            </a:avLst>
          </a:prstGeom>
          <a:solidFill>
            <a:srgbClr val="444752"/>
          </a:solidFill>
          <a:ln/>
        </p:spPr>
      </p:sp>
      <p:sp>
        <p:nvSpPr>
          <p:cNvPr id="15" name="Shape 11"/>
          <p:cNvSpPr/>
          <p:nvPr/>
        </p:nvSpPr>
        <p:spPr>
          <a:xfrm>
            <a:off x="837683" y="3277989"/>
            <a:ext cx="418891" cy="418902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873" y="3393182"/>
            <a:ext cx="188412" cy="1884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683" y="3794621"/>
            <a:ext cx="506965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Site Deviation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7683" y="4058642"/>
            <a:ext cx="5069654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variance analysis and threshold-based alerting system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44662" y="3138388"/>
            <a:ext cx="5348947" cy="1534517"/>
          </a:xfrm>
          <a:prstGeom prst="roundRect">
            <a:avLst>
              <a:gd name="adj" fmla="val 1365"/>
            </a:avLst>
          </a:prstGeom>
          <a:solidFill>
            <a:srgbClr val="444752"/>
          </a:solidFill>
          <a:ln/>
        </p:spPr>
      </p:sp>
      <p:sp>
        <p:nvSpPr>
          <p:cNvPr id="20" name="Shape 15"/>
          <p:cNvSpPr/>
          <p:nvPr/>
        </p:nvSpPr>
        <p:spPr>
          <a:xfrm>
            <a:off x="6284259" y="3277989"/>
            <a:ext cx="418891" cy="418902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9449" y="3393182"/>
            <a:ext cx="188412" cy="1884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84259" y="3794621"/>
            <a:ext cx="506975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Building Health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284259" y="4058642"/>
            <a:ext cx="5069753" cy="47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integrity and component status monitoring across all HVAC units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98086" y="4770636"/>
            <a:ext cx="5348848" cy="1534517"/>
          </a:xfrm>
          <a:prstGeom prst="roundRect">
            <a:avLst>
              <a:gd name="adj" fmla="val 1365"/>
            </a:avLst>
          </a:prstGeom>
          <a:solidFill>
            <a:srgbClr val="444752"/>
          </a:solidFill>
          <a:ln/>
        </p:spPr>
      </p:sp>
      <p:sp>
        <p:nvSpPr>
          <p:cNvPr id="25" name="Shape 19"/>
          <p:cNvSpPr/>
          <p:nvPr/>
        </p:nvSpPr>
        <p:spPr>
          <a:xfrm>
            <a:off x="837683" y="4910237"/>
            <a:ext cx="418891" cy="418902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873" y="5025430"/>
            <a:ext cx="188412" cy="1884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7683" y="5426869"/>
            <a:ext cx="506965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Fault Detection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37683" y="5690890"/>
            <a:ext cx="5069654" cy="47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anomaly detection and predictive failure identification in real time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144662" y="4770636"/>
            <a:ext cx="5348947" cy="1534517"/>
          </a:xfrm>
          <a:prstGeom prst="roundRect">
            <a:avLst>
              <a:gd name="adj" fmla="val 1365"/>
            </a:avLst>
          </a:prstGeom>
          <a:solidFill>
            <a:srgbClr val="444752"/>
          </a:solidFill>
          <a:ln/>
        </p:spPr>
      </p:sp>
      <p:sp>
        <p:nvSpPr>
          <p:cNvPr id="30" name="Shape 23"/>
          <p:cNvSpPr/>
          <p:nvPr/>
        </p:nvSpPr>
        <p:spPr>
          <a:xfrm>
            <a:off x="6284259" y="4910237"/>
            <a:ext cx="418891" cy="418902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99449" y="5025430"/>
            <a:ext cx="188412" cy="1884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84259" y="5426869"/>
            <a:ext cx="506975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84259" y="5690890"/>
            <a:ext cx="5069753" cy="47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High-level insights and actionable recommendations for facility leadership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6241"/>
            <a:ext cx="10795524" cy="375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 &amp; Implementation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98086" y="1145679"/>
            <a:ext cx="5242092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 &amp; Backend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425178"/>
            <a:ext cx="2580218" cy="13180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2451" y="1515963"/>
            <a:ext cx="19138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4727" y="1908770"/>
            <a:ext cx="2286935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4727" y="2178050"/>
            <a:ext cx="2286935" cy="418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with Plotly and Matplotlib for interactive visualizations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9959" y="1425178"/>
            <a:ext cx="2580218" cy="13180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54324" y="1515963"/>
            <a:ext cx="19138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506601" y="1908770"/>
            <a:ext cx="2286935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506601" y="2178050"/>
            <a:ext cx="2286935" cy="418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Flask REST API serving real-time predictions (&lt;1ms per prediction)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98086" y="2835077"/>
            <a:ext cx="5242092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Machine Learning &amp; Data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114576"/>
            <a:ext cx="2580218" cy="23642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92451" y="3205361"/>
            <a:ext cx="19138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44727" y="3598168"/>
            <a:ext cx="2286935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ML Framework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44727" y="3867448"/>
            <a:ext cx="2286935" cy="627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with Scikit-learn, Pandas, NumPy, and a Random Forest model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9959" y="3114576"/>
            <a:ext cx="2580218" cy="23642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54324" y="3205361"/>
            <a:ext cx="19138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506601" y="3598168"/>
            <a:ext cx="2286935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3506601" y="3867448"/>
            <a:ext cx="2286935" cy="1464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 fault detection datasets covering 6 fault types: Condenser Fouling 10/20/30%, Evaporator Fouling 10/20/30%, Refrigerant Overcharge/Undercharge 10/15/20%, plus healthy baseline and real-world site data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98086" y="5570736"/>
            <a:ext cx="5242092" cy="629047"/>
          </a:xfrm>
          <a:prstGeom prst="roundRect">
            <a:avLst>
              <a:gd name="adj" fmla="val 3044"/>
            </a:avLst>
          </a:prstGeom>
          <a:solidFill>
            <a:srgbClr val="790645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78" y="5688806"/>
            <a:ext cx="199425" cy="1595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52695" y="5676007"/>
            <a:ext cx="4659890" cy="418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Production-ready system with batch processing capability (50K systems in ~5 seconds) and real-time API deployment options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257868" y="1166995"/>
            <a:ext cx="5242092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Implemented Modules</a:t>
            </a:r>
            <a:endParaRPr lang="en-US" sz="1400" b="1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868" y="1580027"/>
            <a:ext cx="5013512" cy="41087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5572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Outcomes &amp; Key Achievements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8086" y="1250454"/>
            <a:ext cx="107955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Capabilities Delivered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638697"/>
            <a:ext cx="5397762" cy="5983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7605" y="2349202"/>
            <a:ext cx="50987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Intelligent HVAC Monitoring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47605" y="2636441"/>
            <a:ext cx="5098724" cy="785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system performance tracking with 6 dashboard modules (Energy Consumption, Building Summary, Site Deviation, Building Health, Fault Detection, Executive Summary)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638697"/>
            <a:ext cx="5397762" cy="5983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5366" y="2349202"/>
            <a:ext cx="50987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AI-Driven Fault Detection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245366" y="2636441"/>
            <a:ext cx="5098724" cy="52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 Forest model with 100% accuracy detecting 6 fault types; predictive maintenance alerts prevent equipment failures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3571478"/>
            <a:ext cx="5397762" cy="5983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7605" y="4281984"/>
            <a:ext cx="50987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Energy Optimization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7605" y="4569222"/>
            <a:ext cx="5098724" cy="785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Data-driven consumption analysis and efficiency recommendations; batch processing handles 50K systems in ~5 seconds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571478"/>
            <a:ext cx="5397762" cy="5983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5366" y="4281984"/>
            <a:ext cx="50987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Reporting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245366" y="4569222"/>
            <a:ext cx="5098724" cy="785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Executive KPI dashboards with risk classification (High/Medium/Low) and actionable maintenance recommendations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922414" y="5756672"/>
            <a:ext cx="1118078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"Transforming Traditional HVAC Systems into Intelligent Smart Facility Management"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98086" y="5630466"/>
            <a:ext cx="19050" cy="461863"/>
          </a:xfrm>
          <a:prstGeom prst="roundRect">
            <a:avLst>
              <a:gd name="adj" fmla="val 49999"/>
            </a:avLst>
          </a:prstGeom>
          <a:solidFill>
            <a:srgbClr val="F98AC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626</Words>
  <Application>Microsoft Office PowerPoint</Application>
  <PresentationFormat>Widescreen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Source Sans 3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Shristi Sharma</cp:lastModifiedBy>
  <cp:revision>2</cp:revision>
  <dcterms:created xsi:type="dcterms:W3CDTF">2026-08-04T17:58:29Z</dcterms:created>
  <dcterms:modified xsi:type="dcterms:W3CDTF">2026-08-04T18:13:55Z</dcterms:modified>
</cp:coreProperties>
</file>